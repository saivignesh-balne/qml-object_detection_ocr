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charts/chart1.xml" ContentType="application/vnd.openxmlformats-officedocument.drawingml.chart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/Relationships>
</file>

<file path=ppt/charts/_rels/chart1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1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title>
      <c:tx>
        <c:rich>
          <a:bodyPr/>
          <a:lstStyle/>
          <a:p>
            <a:r>
              <a:t>Top Classifier Accuracy (%)</a:t>
            </a:r>
          </a:p>
        </c:rich>
      </c:tx>
      <c:layout/>
      <c:overlay val="0"/>
    </c:title>
    <c:autoTitleDeleted val="0"/>
    <c:plotArea>
      <c:barChart>
        <c:barDir val="col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Accuracy</c:v>
                </c:pt>
              </c:strCache>
            </c:strRef>
          </c:tx>
          <c:cat>
            <c:strRef>
              <c:f>Sheet1!$A$2:$A$7</c:f>
              <c:strCache>
                <c:ptCount val="6"/>
                <c:pt idx="0">
                  <c:v>Classical SVM (RBF)</c:v>
                </c:pt>
                <c:pt idx="1">
                  <c:v>Logistic Regression</c:v>
                </c:pt>
                <c:pt idx="2">
                  <c:v>MLP Classifier</c:v>
                </c:pt>
                <c:pt idx="3">
                  <c:v>QSVM ZZ Kernel Linear (a</c:v>
                </c:pt>
                <c:pt idx="4">
                  <c:v>Random Forest</c:v>
                </c:pt>
                <c:pt idx="5">
                  <c:v>QSVM Pauli Kernel (angle</c:v>
                </c:pt>
              </c:strCache>
            </c:strRef>
          </c:cat>
          <c:val>
            <c:numRef>
              <c:f>Sheet1!$B$2:$B$7</c:f>
              <c:numCache>
                <c:formatCode>General</c:formatCode>
                <c:ptCount val="6"/>
                <c:pt idx="0">
                  <c:v>99.5</c:v>
                </c:pt>
                <c:pt idx="1">
                  <c:v>99.5</c:v>
                </c:pt>
                <c:pt idx="2">
                  <c:v>99.5</c:v>
                </c:pt>
                <c:pt idx="3">
                  <c:v>99.5</c:v>
                </c:pt>
                <c:pt idx="4">
                  <c:v>99.0</c:v>
                </c:pt>
                <c:pt idx="5">
                  <c:v>90.0</c:v>
                </c:pt>
              </c:numCache>
            </c:numRef>
          </c:val>
        </c:ser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majorTickMark val="out"/>
        <c:minorTickMark val="none"/>
        <c:tickLblPos val="nextTo"/>
        <c:txPr>
          <a:bodyPr/>
          <a:lstStyle/>
          <a:p>
            <a:pPr>
              <a:defRPr sz="1000"/>
            </a:pPr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>
          <c:max val="100.0"/>
          <c:min val="0.0"/>
        </c:scaling>
        <c:delete val="0"/>
        <c:axPos val="l"/>
        <c:majorGridlines/>
        <c:majorTickMark val="out"/>
        <c:minorTickMark val="none"/>
        <c:tickLblPos val="nextTo"/>
        <c:txPr>
          <a:bodyPr/>
          <a:lstStyle/>
          <a:p>
            <a:pPr>
              <a:defRPr sz="1000"/>
            </a:pPr>
          </a:p>
        </c:txPr>
        <c:crossAx val="-2068027336"/>
        <c:crosses val="autoZero"/>
      </c:valAx>
    </c:plotArea>
    <c:dispBlanksAs val="gap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1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7E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F9B76"/>
          </a:solidFill>
          <a:ln>
            <a:solidFill>
              <a:srgbClr val="0F9B7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1371600"/>
            <a:ext cx="1078992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b="1" sz="2800">
                <a:solidFill>
                  <a:srgbClr val="17322D"/>
                </a:solidFill>
                <a:latin typeface="Arial"/>
              </a:rPr>
              <a:t>Hybrid Quantum-Enhanced Object Detection,
Classification, and OCR Pipeline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2971800"/>
            <a:ext cx="73152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000">
                <a:solidFill>
                  <a:srgbClr val="0D7F61"/>
                </a:solidFill>
                <a:latin typeface="Arial"/>
              </a:defRPr>
            </a:pPr>
            <a:r>
              <a:t>Internship Evaluation Presentation</a:t>
            </a:r>
          </a:p>
          <a:p>
            <a:pPr>
              <a:defRPr sz="1400">
                <a:solidFill>
                  <a:srgbClr val="5C726B"/>
                </a:solidFill>
                <a:latin typeface="Arial"/>
              </a:defRPr>
            </a:pPr>
            <a:r>
              <a:t>Prepared for Mentor and Panel Evaluation | 05 April 2026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8412480" y="2743200"/>
            <a:ext cx="1828800" cy="822960"/>
          </a:xfrm>
          <a:prstGeom prst="roundRect">
            <a:avLst/>
          </a:prstGeom>
          <a:solidFill>
            <a:srgbClr val="FFFFFF"/>
          </a:solidFill>
          <a:ln>
            <a:solidFill>
              <a:srgbClr val="0F9B7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100">
                <a:solidFill>
                  <a:srgbClr val="5C726B"/>
                </a:solidFill>
                <a:latin typeface="Arial"/>
              </a:rPr>
              <a:t>Focus</a:t>
            </a:r>
          </a:p>
          <a:p>
            <a:r>
              <a:rPr b="1" sz="1800">
                <a:solidFill>
                  <a:srgbClr val="17322D"/>
                </a:solidFill>
                <a:latin typeface="Arial"/>
              </a:rPr>
              <a:t>Vision + OCR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8412480" y="3657600"/>
            <a:ext cx="1828800" cy="822960"/>
          </a:xfrm>
          <a:prstGeom prst="roundRect">
            <a:avLst/>
          </a:prstGeom>
          <a:solidFill>
            <a:srgbClr val="FFFFFF"/>
          </a:solidFill>
          <a:ln>
            <a:solidFill>
              <a:srgbClr val="C58A3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100">
                <a:solidFill>
                  <a:srgbClr val="5C726B"/>
                </a:solidFill>
                <a:latin typeface="Arial"/>
              </a:rPr>
              <a:t>Research Track</a:t>
            </a:r>
          </a:p>
          <a:p>
            <a:r>
              <a:rPr b="1" sz="1800">
                <a:solidFill>
                  <a:srgbClr val="17322D"/>
                </a:solidFill>
                <a:latin typeface="Arial"/>
              </a:rPr>
              <a:t>Hybrid QML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8412480" y="4572000"/>
            <a:ext cx="1828800" cy="822960"/>
          </a:xfrm>
          <a:prstGeom prst="roundRect">
            <a:avLst/>
          </a:prstGeom>
          <a:solidFill>
            <a:srgbClr val="FFFFFF"/>
          </a:solidFill>
          <a:ln>
            <a:solidFill>
              <a:srgbClr val="0D7F6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100">
                <a:solidFill>
                  <a:srgbClr val="5C726B"/>
                </a:solidFill>
                <a:latin typeface="Arial"/>
              </a:rPr>
              <a:t>Current Winner</a:t>
            </a:r>
          </a:p>
          <a:p>
            <a:r>
              <a:rPr b="1" sz="1800">
                <a:solidFill>
                  <a:srgbClr val="17322D"/>
                </a:solidFill>
                <a:latin typeface="Arial"/>
              </a:rPr>
              <a:t>Classical SVM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155680" y="6400800"/>
            <a:ext cx="73152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>
                <a:solidFill>
                  <a:srgbClr val="5C726B"/>
                </a:solidFill>
                <a:latin typeface="Arial"/>
              </a:rPr>
              <a:t>1/15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7E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36576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b="1" sz="1200">
                <a:solidFill>
                  <a:srgbClr val="0D7F61"/>
                </a:solidFill>
                <a:latin typeface="Arial"/>
              </a:rPr>
              <a:t>TITLE + AGENDA + INTRODUCTION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640080"/>
            <a:ext cx="109728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b="1" sz="2400">
                <a:solidFill>
                  <a:srgbClr val="17322D"/>
                </a:solidFill>
                <a:latin typeface="Arial"/>
              </a:rPr>
              <a:t>Agenda and internship context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234440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>
                <a:solidFill>
                  <a:srgbClr val="5C726B"/>
                </a:solidFill>
                <a:latin typeface="Arial"/>
              </a:rPr>
              <a:t>This presentation follows the evaluation template and stays within the requested slide limits.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645920"/>
            <a:ext cx="521208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b="1" sz="1600">
                <a:solidFill>
                  <a:srgbClr val="0D7F61"/>
                </a:solidFill>
                <a:latin typeface="Arial"/>
              </a:rPr>
              <a:t>Agenda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217920" y="1645920"/>
            <a:ext cx="521208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b="1" sz="1600">
                <a:solidFill>
                  <a:srgbClr val="C58A31"/>
                </a:solidFill>
                <a:latin typeface="Arial"/>
              </a:rPr>
              <a:t>Introduction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40080" y="2011680"/>
            <a:ext cx="5303520" cy="4114800"/>
          </a:xfrm>
          <a:prstGeom prst="roundRect">
            <a:avLst/>
          </a:prstGeom>
          <a:solidFill>
            <a:srgbClr val="FFFFFF"/>
          </a:solidFill>
          <a:ln>
            <a:solidFill>
              <a:srgbClr val="D6E0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lIns="152400" rIns="101600" tIns="101600" bIns="101600" wrap="square"/>
          <a:lstStyle/>
          <a:p>
            <a:pPr algn="ctr">
              <a:spcAft>
                <a:spcPts val="600"/>
              </a:spcAft>
              <a:defRPr sz="1600">
                <a:solidFill>
                  <a:srgbClr val="17322D"/>
                </a:solidFill>
                <a:latin typeface="Arial"/>
              </a:defRPr>
            </a:pPr>
            <a:r>
              <a:t>Project overview and problem statement</a:t>
            </a:r>
          </a:p>
          <a:p>
            <a:pPr>
              <a:spcAft>
                <a:spcPts val="600"/>
              </a:spcAft>
              <a:defRPr sz="1600">
                <a:solidFill>
                  <a:srgbClr val="17322D"/>
                </a:solidFill>
                <a:latin typeface="Arial"/>
              </a:defRPr>
            </a:pPr>
            <a:r>
              <a:t>Methods, skills, and technology stack</a:t>
            </a:r>
          </a:p>
          <a:p>
            <a:pPr>
              <a:spcAft>
                <a:spcPts val="600"/>
              </a:spcAft>
              <a:defRPr sz="1600">
                <a:solidFill>
                  <a:srgbClr val="17322D"/>
                </a:solidFill>
                <a:latin typeface="Arial"/>
              </a:defRPr>
            </a:pPr>
            <a:r>
              <a:t>Internship goals and how they were achieved</a:t>
            </a:r>
          </a:p>
          <a:p>
            <a:pPr>
              <a:spcAft>
                <a:spcPts val="600"/>
              </a:spcAft>
              <a:defRPr sz="1600">
                <a:solidFill>
                  <a:srgbClr val="17322D"/>
                </a:solidFill>
                <a:latin typeface="Arial"/>
              </a:defRPr>
            </a:pPr>
            <a:r>
              <a:t>Results, recommendation, and future scope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126480" y="2011680"/>
            <a:ext cx="5303520" cy="4114800"/>
          </a:xfrm>
          <a:prstGeom prst="roundRect">
            <a:avLst/>
          </a:prstGeom>
          <a:solidFill>
            <a:srgbClr val="FFFFFF"/>
          </a:solidFill>
          <a:ln>
            <a:solidFill>
              <a:srgbClr val="D6E0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lIns="152400" rIns="101600" tIns="101600" bIns="101600" wrap="square"/>
          <a:lstStyle/>
          <a:p>
            <a:pPr algn="ctr">
              <a:spcAft>
                <a:spcPts val="600"/>
              </a:spcAft>
              <a:defRPr sz="1600">
                <a:solidFill>
                  <a:srgbClr val="17322D"/>
                </a:solidFill>
                <a:latin typeface="Arial"/>
              </a:defRPr>
            </a:pPr>
            <a:r>
              <a:t>Project objective: detect, classify, and extract text from product packaging</a:t>
            </a:r>
          </a:p>
          <a:p>
            <a:pPr>
              <a:spcAft>
                <a:spcPts val="600"/>
              </a:spcAft>
              <a:defRPr sz="1600">
                <a:solidFill>
                  <a:srgbClr val="17322D"/>
                </a:solidFill>
                <a:latin typeface="Arial"/>
              </a:defRPr>
            </a:pPr>
            <a:r>
              <a:t>Supported classes: bottle, chip packet, medicine box</a:t>
            </a:r>
          </a:p>
          <a:p>
            <a:pPr>
              <a:spcAft>
                <a:spcPts val="600"/>
              </a:spcAft>
              <a:defRPr sz="1600">
                <a:solidFill>
                  <a:srgbClr val="17322D"/>
                </a:solidFill>
                <a:latin typeface="Arial"/>
              </a:defRPr>
            </a:pPr>
            <a:r>
              <a:t>Research objective: compare classical, hybrid quantum, and quantum-oriented models fairly</a:t>
            </a:r>
          </a:p>
          <a:p>
            <a:pPr>
              <a:spcAft>
                <a:spcPts val="600"/>
              </a:spcAft>
              <a:defRPr sz="1600">
                <a:solidFill>
                  <a:srgbClr val="17322D"/>
                </a:solidFill>
                <a:latin typeface="Arial"/>
              </a:defRPr>
            </a:pPr>
            <a:r>
              <a:t>Business objective: identify the best practical production path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155680" y="6400800"/>
            <a:ext cx="73152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>
                <a:solidFill>
                  <a:srgbClr val="5C726B"/>
                </a:solidFill>
                <a:latin typeface="Arial"/>
              </a:rPr>
              <a:t>2/15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7E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36576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b="1" sz="1200">
                <a:solidFill>
                  <a:srgbClr val="0D7F61"/>
                </a:solidFill>
                <a:latin typeface="Arial"/>
              </a:rPr>
              <a:t>PROJECT PRESENTATION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640080"/>
            <a:ext cx="109728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b="1" sz="2400">
                <a:solidFill>
                  <a:srgbClr val="17322D"/>
                </a:solidFill>
                <a:latin typeface="Arial"/>
              </a:rPr>
              <a:t>Project overview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234440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>
                <a:solidFill>
                  <a:srgbClr val="5C726B"/>
                </a:solidFill>
                <a:latin typeface="Arial"/>
              </a:rPr>
              <a:t>What the system does and why it matters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645920"/>
            <a:ext cx="521208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b="1" sz="1600">
                <a:solidFill>
                  <a:srgbClr val="0D7F61"/>
                </a:solidFill>
                <a:latin typeface="Arial"/>
              </a:rPr>
              <a:t>Problem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217920" y="1645920"/>
            <a:ext cx="521208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b="1" sz="1600">
                <a:solidFill>
                  <a:srgbClr val="C58A31"/>
                </a:solidFill>
                <a:latin typeface="Arial"/>
              </a:rPr>
              <a:t>Solution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40080" y="2011680"/>
            <a:ext cx="5303520" cy="4114800"/>
          </a:xfrm>
          <a:prstGeom prst="roundRect">
            <a:avLst/>
          </a:prstGeom>
          <a:solidFill>
            <a:srgbClr val="FFFFFF"/>
          </a:solidFill>
          <a:ln>
            <a:solidFill>
              <a:srgbClr val="D6E0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lIns="152400" rIns="101600" tIns="101600" bIns="101600" wrap="square"/>
          <a:lstStyle/>
          <a:p>
            <a:pPr algn="ctr">
              <a:spcAft>
                <a:spcPts val="600"/>
              </a:spcAft>
              <a:defRPr sz="1600">
                <a:solidFill>
                  <a:srgbClr val="17322D"/>
                </a:solidFill>
                <a:latin typeface="Arial"/>
              </a:defRPr>
            </a:pPr>
            <a:r>
              <a:t>Packaging images are noisy because of glare, clutter, and small printed text</a:t>
            </a:r>
          </a:p>
          <a:p>
            <a:pPr>
              <a:spcAft>
                <a:spcPts val="600"/>
              </a:spcAft>
              <a:defRPr sz="1600">
                <a:solidFill>
                  <a:srgbClr val="17322D"/>
                </a:solidFill>
                <a:latin typeface="Arial"/>
              </a:defRPr>
            </a:pPr>
            <a:r>
              <a:t>The system must detect the object, classify it correctly, and extract readable text</a:t>
            </a:r>
          </a:p>
          <a:p>
            <a:pPr>
              <a:spcAft>
                <a:spcPts val="600"/>
              </a:spcAft>
              <a:defRPr sz="1600">
                <a:solidFill>
                  <a:srgbClr val="17322D"/>
                </a:solidFill>
                <a:latin typeface="Arial"/>
              </a:defRPr>
            </a:pPr>
            <a:r>
              <a:t>A useful output must be both machine-readable and presentation-ready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126480" y="2011680"/>
            <a:ext cx="5303520" cy="4114800"/>
          </a:xfrm>
          <a:prstGeom prst="roundRect">
            <a:avLst/>
          </a:prstGeom>
          <a:solidFill>
            <a:srgbClr val="FFFFFF"/>
          </a:solidFill>
          <a:ln>
            <a:solidFill>
              <a:srgbClr val="D6E0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lIns="152400" rIns="101600" tIns="101600" bIns="101600" wrap="square"/>
          <a:lstStyle/>
          <a:p>
            <a:pPr algn="ctr">
              <a:spcAft>
                <a:spcPts val="600"/>
              </a:spcAft>
              <a:defRPr sz="1600">
                <a:solidFill>
                  <a:srgbClr val="17322D"/>
                </a:solidFill>
                <a:latin typeface="Arial"/>
              </a:defRPr>
            </a:pPr>
            <a:r>
              <a:t>Full pipeline with detection, ROI classification, OCR, and benchmark-driven recommendation</a:t>
            </a:r>
          </a:p>
          <a:p>
            <a:pPr>
              <a:spcAft>
                <a:spcPts val="600"/>
              </a:spcAft>
              <a:defRPr sz="1600">
                <a:solidFill>
                  <a:srgbClr val="17322D"/>
                </a:solidFill>
                <a:latin typeface="Arial"/>
              </a:defRPr>
            </a:pPr>
            <a:r>
              <a:t>Supports ROI-only mode and full-scene detection mode</a:t>
            </a:r>
          </a:p>
          <a:p>
            <a:pPr>
              <a:spcAft>
                <a:spcPts val="600"/>
              </a:spcAft>
              <a:defRPr sz="1600">
                <a:solidFill>
                  <a:srgbClr val="17322D"/>
                </a:solidFill>
                <a:latin typeface="Arial"/>
              </a:defRPr>
            </a:pPr>
            <a:r>
              <a:t>Compares classical and quantum-aware models on the same evaluation workflow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155680" y="6400800"/>
            <a:ext cx="73152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>
                <a:solidFill>
                  <a:srgbClr val="5C726B"/>
                </a:solidFill>
                <a:latin typeface="Arial"/>
              </a:rPr>
              <a:t>3/15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7E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36576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b="1" sz="1200">
                <a:solidFill>
                  <a:srgbClr val="0D7F61"/>
                </a:solidFill>
                <a:latin typeface="Arial"/>
              </a:rPr>
              <a:t>PROJECT PRESENTATION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640080"/>
            <a:ext cx="109728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b="1" sz="2400">
                <a:solidFill>
                  <a:srgbClr val="17322D"/>
                </a:solidFill>
                <a:latin typeface="Arial"/>
              </a:rPr>
              <a:t>End-to-end architecture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234440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>
                <a:solidFill>
                  <a:srgbClr val="5C726B"/>
                </a:solidFill>
                <a:latin typeface="Arial"/>
              </a:rPr>
              <a:t>Layered data flow from input image to final annotated output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2743200"/>
            <a:ext cx="1280160" cy="914400"/>
          </a:xfrm>
          <a:prstGeom prst="roundRect">
            <a:avLst/>
          </a:prstGeom>
          <a:solidFill>
            <a:srgbClr val="FFFFFF"/>
          </a:solidFill>
          <a:ln>
            <a:solidFill>
              <a:srgbClr val="0F9B7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b="1" sz="1300">
                <a:solidFill>
                  <a:srgbClr val="17322D"/>
                </a:solidFill>
                <a:latin typeface="Arial"/>
              </a:rPr>
              <a:t>Input Image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2011680" y="3200400"/>
            <a:ext cx="228600" cy="0"/>
          </a:xfrm>
          <a:prstGeom prst="line">
            <a:avLst/>
          </a:prstGeom>
          <a:ln w="25400">
            <a:solidFill>
              <a:srgbClr val="5C726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Rounded Rectangle 6"/>
          <p:cNvSpPr/>
          <p:nvPr/>
        </p:nvSpPr>
        <p:spPr>
          <a:xfrm>
            <a:off x="2240280" y="2743200"/>
            <a:ext cx="1280160" cy="914400"/>
          </a:xfrm>
          <a:prstGeom prst="roundRect">
            <a:avLst/>
          </a:prstGeom>
          <a:solidFill>
            <a:srgbClr val="FFFFFF"/>
          </a:solidFill>
          <a:ln>
            <a:solidFill>
              <a:srgbClr val="C58A3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b="1" sz="1300">
                <a:solidFill>
                  <a:srgbClr val="17322D"/>
                </a:solidFill>
                <a:latin typeface="Arial"/>
              </a:rPr>
              <a:t>Preprocessing</a:t>
            </a:r>
          </a:p>
        </p:txBody>
      </p:sp>
      <p:cxnSp>
        <p:nvCxnSpPr>
          <p:cNvPr id="8" name="Connector 7"/>
          <p:cNvCxnSpPr/>
          <p:nvPr/>
        </p:nvCxnSpPr>
        <p:spPr>
          <a:xfrm>
            <a:off x="3520440" y="3200400"/>
            <a:ext cx="228599" cy="0"/>
          </a:xfrm>
          <a:prstGeom prst="line">
            <a:avLst/>
          </a:prstGeom>
          <a:ln w="25400">
            <a:solidFill>
              <a:srgbClr val="5C726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Rounded Rectangle 8"/>
          <p:cNvSpPr/>
          <p:nvPr/>
        </p:nvSpPr>
        <p:spPr>
          <a:xfrm>
            <a:off x="3749039" y="2743200"/>
            <a:ext cx="1280160" cy="914400"/>
          </a:xfrm>
          <a:prstGeom prst="roundRect">
            <a:avLst/>
          </a:prstGeom>
          <a:solidFill>
            <a:srgbClr val="FFFFFF"/>
          </a:solidFill>
          <a:ln>
            <a:solidFill>
              <a:srgbClr val="0F9B7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b="1" sz="1300">
                <a:solidFill>
                  <a:srgbClr val="17322D"/>
                </a:solidFill>
                <a:latin typeface="Arial"/>
              </a:rPr>
              <a:t>Detection</a:t>
            </a:r>
          </a:p>
        </p:txBody>
      </p:sp>
      <p:cxnSp>
        <p:nvCxnSpPr>
          <p:cNvPr id="10" name="Connector 9"/>
          <p:cNvCxnSpPr/>
          <p:nvPr/>
        </p:nvCxnSpPr>
        <p:spPr>
          <a:xfrm>
            <a:off x="5029200" y="3200400"/>
            <a:ext cx="228600" cy="0"/>
          </a:xfrm>
          <a:prstGeom prst="line">
            <a:avLst/>
          </a:prstGeom>
          <a:ln w="25400">
            <a:solidFill>
              <a:srgbClr val="5C726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" name="Rounded Rectangle 10"/>
          <p:cNvSpPr/>
          <p:nvPr/>
        </p:nvSpPr>
        <p:spPr>
          <a:xfrm>
            <a:off x="5257800" y="2743200"/>
            <a:ext cx="1280160" cy="914400"/>
          </a:xfrm>
          <a:prstGeom prst="roundRect">
            <a:avLst/>
          </a:prstGeom>
          <a:solidFill>
            <a:srgbClr val="FFFFFF"/>
          </a:solidFill>
          <a:ln>
            <a:solidFill>
              <a:srgbClr val="C58A3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b="1" sz="1300">
                <a:solidFill>
                  <a:srgbClr val="17322D"/>
                </a:solidFill>
                <a:latin typeface="Arial"/>
              </a:rPr>
              <a:t>ROI Extraction</a:t>
            </a:r>
          </a:p>
        </p:txBody>
      </p:sp>
      <p:cxnSp>
        <p:nvCxnSpPr>
          <p:cNvPr id="12" name="Connector 11"/>
          <p:cNvCxnSpPr/>
          <p:nvPr/>
        </p:nvCxnSpPr>
        <p:spPr>
          <a:xfrm>
            <a:off x="6537960" y="3200400"/>
            <a:ext cx="228600" cy="0"/>
          </a:xfrm>
          <a:prstGeom prst="line">
            <a:avLst/>
          </a:prstGeom>
          <a:ln w="25400">
            <a:solidFill>
              <a:srgbClr val="5C726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" name="Rounded Rectangle 12"/>
          <p:cNvSpPr/>
          <p:nvPr/>
        </p:nvSpPr>
        <p:spPr>
          <a:xfrm>
            <a:off x="6766560" y="2743200"/>
            <a:ext cx="1280160" cy="914400"/>
          </a:xfrm>
          <a:prstGeom prst="roundRect">
            <a:avLst/>
          </a:prstGeom>
          <a:solidFill>
            <a:srgbClr val="FFFFFF"/>
          </a:solidFill>
          <a:ln>
            <a:solidFill>
              <a:srgbClr val="0F9B7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b="1" sz="1300">
                <a:solidFill>
                  <a:srgbClr val="17322D"/>
                </a:solidFill>
                <a:latin typeface="Arial"/>
              </a:rPr>
              <a:t>Classification</a:t>
            </a:r>
          </a:p>
        </p:txBody>
      </p:sp>
      <p:cxnSp>
        <p:nvCxnSpPr>
          <p:cNvPr id="14" name="Connector 13"/>
          <p:cNvCxnSpPr/>
          <p:nvPr/>
        </p:nvCxnSpPr>
        <p:spPr>
          <a:xfrm>
            <a:off x="8046720" y="3200400"/>
            <a:ext cx="228600" cy="0"/>
          </a:xfrm>
          <a:prstGeom prst="line">
            <a:avLst/>
          </a:prstGeom>
          <a:ln w="25400">
            <a:solidFill>
              <a:srgbClr val="5C726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" name="Rounded Rectangle 14"/>
          <p:cNvSpPr/>
          <p:nvPr/>
        </p:nvSpPr>
        <p:spPr>
          <a:xfrm>
            <a:off x="8275320" y="2743200"/>
            <a:ext cx="1280160" cy="914400"/>
          </a:xfrm>
          <a:prstGeom prst="roundRect">
            <a:avLst/>
          </a:prstGeom>
          <a:solidFill>
            <a:srgbClr val="FFFFFF"/>
          </a:solidFill>
          <a:ln>
            <a:solidFill>
              <a:srgbClr val="C58A3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b="1" sz="1300">
                <a:solidFill>
                  <a:srgbClr val="17322D"/>
                </a:solidFill>
                <a:latin typeface="Arial"/>
              </a:rPr>
              <a:t>OCR</a:t>
            </a:r>
          </a:p>
        </p:txBody>
      </p:sp>
      <p:cxnSp>
        <p:nvCxnSpPr>
          <p:cNvPr id="16" name="Connector 15"/>
          <p:cNvCxnSpPr/>
          <p:nvPr/>
        </p:nvCxnSpPr>
        <p:spPr>
          <a:xfrm>
            <a:off x="9555480" y="3200400"/>
            <a:ext cx="228600" cy="0"/>
          </a:xfrm>
          <a:prstGeom prst="line">
            <a:avLst/>
          </a:prstGeom>
          <a:ln w="25400">
            <a:solidFill>
              <a:srgbClr val="5C726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7" name="Rounded Rectangle 16"/>
          <p:cNvSpPr/>
          <p:nvPr/>
        </p:nvSpPr>
        <p:spPr>
          <a:xfrm>
            <a:off x="9784080" y="2743200"/>
            <a:ext cx="1280160" cy="914400"/>
          </a:xfrm>
          <a:prstGeom prst="roundRect">
            <a:avLst/>
          </a:prstGeom>
          <a:solidFill>
            <a:srgbClr val="FFFFFF"/>
          </a:solidFill>
          <a:ln>
            <a:solidFill>
              <a:srgbClr val="0D7F6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b="1" sz="1300">
                <a:solidFill>
                  <a:srgbClr val="17322D"/>
                </a:solidFill>
                <a:latin typeface="Arial"/>
              </a:rPr>
              <a:t>Final Output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914400" y="4389120"/>
            <a:ext cx="10424160" cy="1325880"/>
          </a:xfrm>
          <a:prstGeom prst="roundRect">
            <a:avLst/>
          </a:prstGeom>
          <a:solidFill>
            <a:srgbClr val="FFFFFF"/>
          </a:solidFill>
          <a:ln>
            <a:solidFill>
              <a:srgbClr val="D6E0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lIns="152400" rIns="101600" tIns="101600" bIns="101600" wrap="square"/>
          <a:lstStyle/>
          <a:p>
            <a:pPr algn="ctr">
              <a:spcAft>
                <a:spcPts val="600"/>
              </a:spcAft>
              <a:defRPr sz="1400">
                <a:solidFill>
                  <a:srgbClr val="17322D"/>
                </a:solidFill>
                <a:latin typeface="Arial"/>
              </a:defRPr>
            </a:pPr>
            <a:r>
              <a:t>OpenCV handles denoising, contrast enhancement, and OCR-friendly preprocessing.</a:t>
            </a:r>
          </a:p>
          <a:p>
            <a:pPr>
              <a:spcAft>
                <a:spcPts val="600"/>
              </a:spcAft>
              <a:defRPr sz="1400">
                <a:solidFill>
                  <a:srgbClr val="17322D"/>
                </a:solidFill>
                <a:latin typeface="Arial"/>
              </a:defRPr>
            </a:pPr>
            <a:r>
              <a:t>YOLO detects the object, then ROI classification uses classical and quantum-aware models.</a:t>
            </a:r>
          </a:p>
          <a:p>
            <a:pPr>
              <a:spcAft>
                <a:spcPts val="600"/>
              </a:spcAft>
              <a:defRPr sz="1400">
                <a:solidFill>
                  <a:srgbClr val="17322D"/>
                </a:solidFill>
                <a:latin typeface="Arial"/>
              </a:defRPr>
            </a:pPr>
            <a:r>
              <a:t>OCR uses Tesseract and TrOCR, and the final image shows label plus extracted text.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1155680" y="6400800"/>
            <a:ext cx="73152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>
                <a:solidFill>
                  <a:srgbClr val="5C726B"/>
                </a:solidFill>
                <a:latin typeface="Arial"/>
              </a:rPr>
              <a:t>4/15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7E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36576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b="1" sz="1200">
                <a:solidFill>
                  <a:srgbClr val="0D7F61"/>
                </a:solidFill>
                <a:latin typeface="Arial"/>
              </a:rPr>
              <a:t>PROJECT PRESENTATION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640080"/>
            <a:ext cx="109728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b="1" sz="2400">
                <a:solidFill>
                  <a:srgbClr val="17322D"/>
                </a:solidFill>
                <a:latin typeface="Arial"/>
              </a:rPr>
              <a:t>UI workflow and operating modes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234440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>
                <a:solidFill>
                  <a:srgbClr val="5C726B"/>
                </a:solidFill>
                <a:latin typeface="Arial"/>
              </a:rPr>
              <a:t>How the project is trained, benchmarked, and demonstrated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645920"/>
            <a:ext cx="521208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b="1" sz="1600">
                <a:solidFill>
                  <a:srgbClr val="0D7F61"/>
                </a:solidFill>
                <a:latin typeface="Arial"/>
              </a:rPr>
              <a:t>UI Workflow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217920" y="1645920"/>
            <a:ext cx="521208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b="1" sz="1600">
                <a:solidFill>
                  <a:srgbClr val="C58A31"/>
                </a:solidFill>
                <a:latin typeface="Arial"/>
              </a:rPr>
              <a:t>Operating Modes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40080" y="2011680"/>
            <a:ext cx="5303520" cy="4114800"/>
          </a:xfrm>
          <a:prstGeom prst="roundRect">
            <a:avLst/>
          </a:prstGeom>
          <a:solidFill>
            <a:srgbClr val="FFFFFF"/>
          </a:solidFill>
          <a:ln>
            <a:solidFill>
              <a:srgbClr val="D6E0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lIns="152400" rIns="101600" tIns="101600" bIns="101600" wrap="square"/>
          <a:lstStyle/>
          <a:p>
            <a:pPr algn="ctr">
              <a:spcAft>
                <a:spcPts val="600"/>
              </a:spcAft>
              <a:defRPr sz="1600">
                <a:solidFill>
                  <a:srgbClr val="17322D"/>
                </a:solidFill>
                <a:latin typeface="Arial"/>
              </a:defRPr>
            </a:pPr>
            <a:r>
              <a:t>Train detector from the UI</a:t>
            </a:r>
          </a:p>
          <a:p>
            <a:pPr>
              <a:spcAft>
                <a:spcPts val="600"/>
              </a:spcAft>
              <a:defRPr sz="1600">
                <a:solidFill>
                  <a:srgbClr val="17322D"/>
                </a:solidFill>
                <a:latin typeface="Arial"/>
              </a:defRPr>
            </a:pPr>
            <a:r>
              <a:t>Train ROI classifier suite from the UI</a:t>
            </a:r>
          </a:p>
          <a:p>
            <a:pPr>
              <a:spcAft>
                <a:spcPts val="600"/>
              </a:spcAft>
              <a:defRPr sz="1600">
                <a:solidFill>
                  <a:srgbClr val="17322D"/>
                </a:solidFill>
                <a:latin typeface="Arial"/>
              </a:defRPr>
            </a:pPr>
            <a:r>
              <a:t>Generate benchmark report automatically</a:t>
            </a:r>
          </a:p>
          <a:p>
            <a:pPr>
              <a:spcAft>
                <a:spcPts val="600"/>
              </a:spcAft>
              <a:defRPr sz="1600">
                <a:solidFill>
                  <a:srgbClr val="17322D"/>
                </a:solidFill>
                <a:latin typeface="Arial"/>
              </a:defRPr>
            </a:pPr>
            <a:r>
              <a:t>Run inference and compare all saved models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126480" y="2011680"/>
            <a:ext cx="5303520" cy="4114800"/>
          </a:xfrm>
          <a:prstGeom prst="roundRect">
            <a:avLst/>
          </a:prstGeom>
          <a:solidFill>
            <a:srgbClr val="FFFFFF"/>
          </a:solidFill>
          <a:ln>
            <a:solidFill>
              <a:srgbClr val="D6E0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lIns="152400" rIns="101600" tIns="101600" bIns="101600" wrap="square"/>
          <a:lstStyle/>
          <a:p>
            <a:pPr algn="ctr">
              <a:spcAft>
                <a:spcPts val="600"/>
              </a:spcAft>
              <a:defRPr sz="1600">
                <a:solidFill>
                  <a:srgbClr val="17322D"/>
                </a:solidFill>
                <a:latin typeface="Arial"/>
              </a:defRPr>
            </a:pPr>
            <a:r>
              <a:t>ROI upload mode for already-cropped images</a:t>
            </a:r>
          </a:p>
          <a:p>
            <a:pPr>
              <a:spcAft>
                <a:spcPts val="600"/>
              </a:spcAft>
              <a:defRPr sz="1600">
                <a:solidFill>
                  <a:srgbClr val="17322D"/>
                </a:solidFill>
                <a:latin typeface="Arial"/>
              </a:defRPr>
            </a:pPr>
            <a:r>
              <a:t>Full pipeline mode for larger scene images</a:t>
            </a:r>
          </a:p>
          <a:p>
            <a:pPr>
              <a:spcAft>
                <a:spcPts val="600"/>
              </a:spcAft>
              <a:defRPr sz="1600">
                <a:solidFill>
                  <a:srgbClr val="17322D"/>
                </a:solidFill>
                <a:latin typeface="Arial"/>
              </a:defRPr>
            </a:pPr>
            <a:r>
              <a:t>Single-model, selected-model, or all-model inference</a:t>
            </a:r>
          </a:p>
          <a:p>
            <a:pPr>
              <a:spcAft>
                <a:spcPts val="600"/>
              </a:spcAft>
              <a:defRPr sz="1600">
                <a:solidFill>
                  <a:srgbClr val="17322D"/>
                </a:solidFill>
                <a:latin typeface="Arial"/>
              </a:defRPr>
            </a:pPr>
            <a:r>
              <a:t>Clean output image plus benchmark charts and tables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155680" y="6400800"/>
            <a:ext cx="73152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>
                <a:solidFill>
                  <a:srgbClr val="5C726B"/>
                </a:solidFill>
                <a:latin typeface="Arial"/>
              </a:rPr>
              <a:t>5/15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7E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36576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b="1" sz="1200">
                <a:solidFill>
                  <a:srgbClr val="0D7F61"/>
                </a:solidFill>
                <a:latin typeface="Arial"/>
              </a:rPr>
              <a:t>PROJECT PRESENTATION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640080"/>
            <a:ext cx="109728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b="1" sz="2400">
                <a:solidFill>
                  <a:srgbClr val="17322D"/>
                </a:solidFill>
                <a:latin typeface="Arial"/>
              </a:rPr>
              <a:t>Dataset design and scope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234440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>
                <a:solidFill>
                  <a:srgbClr val="5C726B"/>
                </a:solidFill>
                <a:latin typeface="Arial"/>
              </a:rPr>
              <a:t>Separate datasets were used for detection and ROI classification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645920"/>
            <a:ext cx="521208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b="1" sz="1600">
                <a:solidFill>
                  <a:srgbClr val="0D7F61"/>
                </a:solidFill>
                <a:latin typeface="Arial"/>
              </a:rPr>
              <a:t>Detection Dataset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217920" y="1645920"/>
            <a:ext cx="521208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b="1" sz="1600">
                <a:solidFill>
                  <a:srgbClr val="C58A31"/>
                </a:solidFill>
                <a:latin typeface="Arial"/>
              </a:rPr>
              <a:t>ROI Classifier Dataset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40080" y="2011680"/>
            <a:ext cx="5303520" cy="4114800"/>
          </a:xfrm>
          <a:prstGeom prst="roundRect">
            <a:avLst/>
          </a:prstGeom>
          <a:solidFill>
            <a:srgbClr val="FFFFFF"/>
          </a:solidFill>
          <a:ln>
            <a:solidFill>
              <a:srgbClr val="D6E0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lIns="152400" rIns="101600" tIns="101600" bIns="101600" wrap="square"/>
          <a:lstStyle/>
          <a:p>
            <a:pPr algn="ctr">
              <a:spcAft>
                <a:spcPts val="600"/>
              </a:spcAft>
              <a:defRPr sz="1600">
                <a:solidFill>
                  <a:srgbClr val="17322D"/>
                </a:solidFill>
                <a:latin typeface="Arial"/>
              </a:defRPr>
            </a:pPr>
            <a:r>
              <a:t>YOLO-style full-scene dataset with images/train, images/val, labels/train, labels/val</a:t>
            </a:r>
          </a:p>
          <a:p>
            <a:pPr>
              <a:spcAft>
                <a:spcPts val="600"/>
              </a:spcAft>
              <a:defRPr sz="1600">
                <a:solidFill>
                  <a:srgbClr val="17322D"/>
                </a:solidFill>
                <a:latin typeface="Arial"/>
              </a:defRPr>
            </a:pPr>
            <a:r>
              <a:t>Bounding-box annotations are stored in YOLO text format</a:t>
            </a:r>
          </a:p>
          <a:p>
            <a:pPr>
              <a:spcAft>
                <a:spcPts val="600"/>
              </a:spcAft>
              <a:defRPr sz="1600">
                <a:solidFill>
                  <a:srgbClr val="17322D"/>
                </a:solidFill>
                <a:latin typeface="Arial"/>
              </a:defRPr>
            </a:pPr>
            <a:r>
              <a:t>Used for localizing bottles, chip packets, and medicine boxes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126480" y="2011680"/>
            <a:ext cx="5303520" cy="4114800"/>
          </a:xfrm>
          <a:prstGeom prst="roundRect">
            <a:avLst/>
          </a:prstGeom>
          <a:solidFill>
            <a:srgbClr val="FFFFFF"/>
          </a:solidFill>
          <a:ln>
            <a:solidFill>
              <a:srgbClr val="D6E0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lIns="152400" rIns="101600" tIns="101600" bIns="101600" wrap="square"/>
          <a:lstStyle/>
          <a:p>
            <a:pPr algn="ctr">
              <a:spcAft>
                <a:spcPts val="600"/>
              </a:spcAft>
              <a:defRPr sz="1600">
                <a:solidFill>
                  <a:srgbClr val="17322D"/>
                </a:solidFill>
                <a:latin typeface="Arial"/>
              </a:defRPr>
            </a:pPr>
            <a:r>
              <a:t>Class-organized cropped object images</a:t>
            </a:r>
          </a:p>
          <a:p>
            <a:pPr>
              <a:spcAft>
                <a:spcPts val="600"/>
              </a:spcAft>
              <a:defRPr sz="1600">
                <a:solidFill>
                  <a:srgbClr val="17322D"/>
                </a:solidFill>
                <a:latin typeface="Arial"/>
              </a:defRPr>
            </a:pPr>
            <a:r>
              <a:t>Total ROI samples: 997</a:t>
            </a:r>
          </a:p>
          <a:p>
            <a:pPr>
              <a:spcAft>
                <a:spcPts val="600"/>
              </a:spcAft>
              <a:defRPr sz="1600">
                <a:solidFill>
                  <a:srgbClr val="17322D"/>
                </a:solidFill>
                <a:latin typeface="Arial"/>
              </a:defRPr>
            </a:pPr>
            <a:r>
              <a:t>Balanced training used augmentation to reduce class imbalance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822960" y="5669280"/>
            <a:ext cx="1828800" cy="822960"/>
          </a:xfrm>
          <a:prstGeom prst="roundRect">
            <a:avLst/>
          </a:prstGeom>
          <a:solidFill>
            <a:srgbClr val="FFFFFF"/>
          </a:solidFill>
          <a:ln>
            <a:solidFill>
              <a:srgbClr val="0F9B7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100">
                <a:solidFill>
                  <a:srgbClr val="5C726B"/>
                </a:solidFill>
                <a:latin typeface="Arial"/>
              </a:rPr>
              <a:t>ROI Samples</a:t>
            </a:r>
          </a:p>
          <a:p>
            <a:r>
              <a:rPr b="1" sz="1800">
                <a:solidFill>
                  <a:srgbClr val="17322D"/>
                </a:solidFill>
                <a:latin typeface="Arial"/>
              </a:rPr>
              <a:t>997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2834640" y="5669280"/>
            <a:ext cx="1828800" cy="822960"/>
          </a:xfrm>
          <a:prstGeom prst="roundRect">
            <a:avLst/>
          </a:prstGeom>
          <a:solidFill>
            <a:srgbClr val="FFFFFF"/>
          </a:solidFill>
          <a:ln>
            <a:solidFill>
              <a:srgbClr val="C58A3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100">
                <a:solidFill>
                  <a:srgbClr val="5C726B"/>
                </a:solidFill>
                <a:latin typeface="Arial"/>
              </a:rPr>
              <a:t>Test Samples</a:t>
            </a:r>
          </a:p>
          <a:p>
            <a:r>
              <a:rPr b="1" sz="1800">
                <a:solidFill>
                  <a:srgbClr val="17322D"/>
                </a:solidFill>
                <a:latin typeface="Arial"/>
              </a:rPr>
              <a:t>200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846320" y="5669280"/>
            <a:ext cx="1828800" cy="822960"/>
          </a:xfrm>
          <a:prstGeom prst="roundRect">
            <a:avLst/>
          </a:prstGeom>
          <a:solidFill>
            <a:srgbClr val="FFFFFF"/>
          </a:solidFill>
          <a:ln>
            <a:solidFill>
              <a:srgbClr val="0D7F6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100">
                <a:solidFill>
                  <a:srgbClr val="5C726B"/>
                </a:solidFill>
                <a:latin typeface="Arial"/>
              </a:rPr>
              <a:t>Balanced Train</a:t>
            </a:r>
          </a:p>
          <a:p>
            <a:r>
              <a:rPr b="1" sz="1800">
                <a:solidFill>
                  <a:srgbClr val="17322D"/>
                </a:solidFill>
                <a:latin typeface="Arial"/>
              </a:rPr>
              <a:t>1047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1155680" y="6400800"/>
            <a:ext cx="73152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>
                <a:solidFill>
                  <a:srgbClr val="5C726B"/>
                </a:solidFill>
                <a:latin typeface="Arial"/>
              </a:rPr>
              <a:t>6/15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7E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36576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b="1" sz="1200">
                <a:solidFill>
                  <a:srgbClr val="0D7F61"/>
                </a:solidFill>
                <a:latin typeface="Arial"/>
              </a:rPr>
              <a:t>METHODS, SKILLS &amp; TECHNOLOGY USED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640080"/>
            <a:ext cx="109728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b="1" sz="2400">
                <a:solidFill>
                  <a:srgbClr val="17322D"/>
                </a:solidFill>
                <a:latin typeface="Arial"/>
              </a:rPr>
              <a:t>Methods used in the pipeline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234440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>
                <a:solidFill>
                  <a:srgbClr val="5C726B"/>
                </a:solidFill>
                <a:latin typeface="Arial"/>
              </a:rPr>
              <a:t>Core algorithmic flow and modeling choices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645920"/>
            <a:ext cx="521208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b="1" sz="1600">
                <a:solidFill>
                  <a:srgbClr val="0D7F61"/>
                </a:solidFill>
                <a:latin typeface="Arial"/>
              </a:rPr>
              <a:t>Vision and OCR Methods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217920" y="1645920"/>
            <a:ext cx="521208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b="1" sz="1600">
                <a:solidFill>
                  <a:srgbClr val="C58A31"/>
                </a:solidFill>
                <a:latin typeface="Arial"/>
              </a:rPr>
              <a:t>Learning Methods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40080" y="2011680"/>
            <a:ext cx="5303520" cy="4114800"/>
          </a:xfrm>
          <a:prstGeom prst="roundRect">
            <a:avLst/>
          </a:prstGeom>
          <a:solidFill>
            <a:srgbClr val="FFFFFF"/>
          </a:solidFill>
          <a:ln>
            <a:solidFill>
              <a:srgbClr val="D6E0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lIns="152400" rIns="101600" tIns="101600" bIns="101600" wrap="square"/>
          <a:lstStyle/>
          <a:p>
            <a:pPr algn="ctr">
              <a:spcAft>
                <a:spcPts val="600"/>
              </a:spcAft>
              <a:defRPr sz="1600">
                <a:solidFill>
                  <a:srgbClr val="17322D"/>
                </a:solidFill>
                <a:latin typeface="Arial"/>
              </a:defRPr>
            </a:pPr>
            <a:r>
              <a:t>Noise reduction, contrast enhancement, and binarization with OpenCV</a:t>
            </a:r>
          </a:p>
          <a:p>
            <a:pPr>
              <a:spcAft>
                <a:spcPts val="600"/>
              </a:spcAft>
              <a:defRPr sz="1600">
                <a:solidFill>
                  <a:srgbClr val="17322D"/>
                </a:solidFill>
                <a:latin typeface="Arial"/>
              </a:defRPr>
            </a:pPr>
            <a:r>
              <a:t>YOLO object detection for localization</a:t>
            </a:r>
          </a:p>
          <a:p>
            <a:pPr>
              <a:spcAft>
                <a:spcPts val="600"/>
              </a:spcAft>
              <a:defRPr sz="1600">
                <a:solidFill>
                  <a:srgbClr val="17322D"/>
                </a:solidFill>
                <a:latin typeface="Arial"/>
              </a:defRPr>
            </a:pPr>
            <a:r>
              <a:t>ROI extraction with controlled padding</a:t>
            </a:r>
          </a:p>
          <a:p>
            <a:pPr>
              <a:spcAft>
                <a:spcPts val="600"/>
              </a:spcAft>
              <a:defRPr sz="1600">
                <a:solidFill>
                  <a:srgbClr val="17322D"/>
                </a:solidFill>
                <a:latin typeface="Arial"/>
              </a:defRPr>
            </a:pPr>
            <a:r>
              <a:t>OCR ensemble using Tesseract and TrOCR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126480" y="2011680"/>
            <a:ext cx="5303520" cy="4114800"/>
          </a:xfrm>
          <a:prstGeom prst="roundRect">
            <a:avLst/>
          </a:prstGeom>
          <a:solidFill>
            <a:srgbClr val="FFFFFF"/>
          </a:solidFill>
          <a:ln>
            <a:solidFill>
              <a:srgbClr val="D6E0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lIns="152400" rIns="101600" tIns="101600" bIns="101600" wrap="square"/>
          <a:lstStyle/>
          <a:p>
            <a:pPr algn="ctr">
              <a:spcAft>
                <a:spcPts val="600"/>
              </a:spcAft>
              <a:defRPr sz="1600">
                <a:solidFill>
                  <a:srgbClr val="17322D"/>
                </a:solidFill>
                <a:latin typeface="Arial"/>
              </a:defRPr>
            </a:pPr>
            <a:r>
              <a:t>Classical feature extraction from ROI images</a:t>
            </a:r>
          </a:p>
          <a:p>
            <a:pPr>
              <a:spcAft>
                <a:spcPts val="600"/>
              </a:spcAft>
              <a:defRPr sz="1600">
                <a:solidFill>
                  <a:srgbClr val="17322D"/>
                </a:solidFill>
                <a:latin typeface="Arial"/>
              </a:defRPr>
            </a:pPr>
            <a:r>
              <a:t>Angle encoding and amplitude encoding for quantum preparation</a:t>
            </a:r>
          </a:p>
          <a:p>
            <a:pPr>
              <a:spcAft>
                <a:spcPts val="600"/>
              </a:spcAft>
              <a:defRPr sz="1600">
                <a:solidFill>
                  <a:srgbClr val="17322D"/>
                </a:solidFill>
                <a:latin typeface="Arial"/>
              </a:defRPr>
            </a:pPr>
            <a:r>
              <a:t>Quantum-kernel SVM and variational quantum classifiers</a:t>
            </a:r>
          </a:p>
          <a:p>
            <a:pPr>
              <a:spcAft>
                <a:spcPts val="600"/>
              </a:spcAft>
              <a:defRPr sz="1600">
                <a:solidFill>
                  <a:srgbClr val="17322D"/>
                </a:solidFill>
                <a:latin typeface="Arial"/>
              </a:defRPr>
            </a:pPr>
            <a:r>
              <a:t>Direct comparison against strong classical baselines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155680" y="6400800"/>
            <a:ext cx="73152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>
                <a:solidFill>
                  <a:srgbClr val="5C726B"/>
                </a:solidFill>
                <a:latin typeface="Arial"/>
              </a:rPr>
              <a:t>7/15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7E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36576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b="1" sz="1200">
                <a:solidFill>
                  <a:srgbClr val="0D7F61"/>
                </a:solidFill>
                <a:latin typeface="Arial"/>
              </a:rPr>
              <a:t>METHODS, SKILLS &amp; TECHNOLOGY USED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640080"/>
            <a:ext cx="109728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b="1" sz="2400">
                <a:solidFill>
                  <a:srgbClr val="17322D"/>
                </a:solidFill>
                <a:latin typeface="Arial"/>
              </a:rPr>
              <a:t>Classical vs hybrid quantum vs pure quantum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234440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>
                <a:solidFill>
                  <a:srgbClr val="5C726B"/>
                </a:solidFill>
                <a:latin typeface="Arial"/>
              </a:rPr>
              <a:t>Why the project uses a hybrid design instead of a fully quantum image pipeline</a:t>
            </a:r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457200" y="1737360"/>
          <a:ext cx="11247120" cy="42062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249424"/>
                <a:gridCol w="2249424"/>
                <a:gridCol w="2249424"/>
                <a:gridCol w="2249424"/>
                <a:gridCol w="2249424"/>
              </a:tblGrid>
              <a:tr h="1051560"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7322D"/>
                          </a:solidFill>
                          <a:latin typeface="Arial"/>
                        </a:rPr>
                        <a:t>Approach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7322D"/>
                          </a:solidFill>
                          <a:latin typeface="Arial"/>
                        </a:rPr>
                        <a:t>How It Works Here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7322D"/>
                          </a:solidFill>
                          <a:latin typeface="Arial"/>
                        </a:rPr>
                        <a:t>Advantages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7322D"/>
                          </a:solidFill>
                          <a:latin typeface="Arial"/>
                        </a:rPr>
                        <a:t>Disadvantages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7322D"/>
                          </a:solidFill>
                          <a:latin typeface="Arial"/>
                        </a:rPr>
                        <a:t>Best Use</a:t>
                      </a:r>
                    </a:p>
                  </a:txBody>
                  <a:tcPr/>
                </a:tc>
              </a:tr>
              <a:tr h="1051560"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7322D"/>
                          </a:solidFill>
                          <a:latin typeface="Arial"/>
                        </a:rPr>
                        <a:t>Classical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7322D"/>
                          </a:solidFill>
                          <a:latin typeface="Arial"/>
                        </a:rPr>
                        <a:t>OpenCV + ROI features + classical classifier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7322D"/>
                          </a:solidFill>
                          <a:latin typeface="Arial"/>
                        </a:rPr>
                        <a:t>Fast, strong baselines, easier deployment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7322D"/>
                          </a:solidFill>
                          <a:latin typeface="Arial"/>
                        </a:rPr>
                        <a:t>Lower research novelty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7322D"/>
                          </a:solidFill>
                          <a:latin typeface="Arial"/>
                        </a:rPr>
                        <a:t>Production</a:t>
                      </a:r>
                    </a:p>
                  </a:txBody>
                  <a:tcPr/>
                </a:tc>
              </a:tr>
              <a:tr h="1051560"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7322D"/>
                          </a:solidFill>
                          <a:latin typeface="Arial"/>
                        </a:rPr>
                        <a:t>Hybrid Quantum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7322D"/>
                          </a:solidFill>
                          <a:latin typeface="Arial"/>
                        </a:rPr>
                        <a:t>Classical preprocessing + compressed features + quantum classifier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7322D"/>
                          </a:solidFill>
                          <a:latin typeface="Arial"/>
                        </a:rPr>
                        <a:t>Innovation value and realistic near-term QML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7322D"/>
                          </a:solidFill>
                          <a:latin typeface="Arial"/>
                        </a:rPr>
                        <a:t>Higher complexity and slower training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7322D"/>
                          </a:solidFill>
                          <a:latin typeface="Arial"/>
                        </a:rPr>
                        <a:t>Research</a:t>
                      </a:r>
                    </a:p>
                  </a:txBody>
                  <a:tcPr/>
                </a:tc>
              </a:tr>
              <a:tr h="1051560"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7322D"/>
                          </a:solidFill>
                          <a:latin typeface="Arial"/>
                        </a:rPr>
                        <a:t>Pure Quantum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7322D"/>
                          </a:solidFill>
                          <a:latin typeface="Arial"/>
                        </a:rPr>
                        <a:t>Direct quantum image encoding and classification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7322D"/>
                          </a:solidFill>
                          <a:latin typeface="Arial"/>
                        </a:rPr>
                        <a:t>High novelty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7322D"/>
                          </a:solidFill>
                          <a:latin typeface="Arial"/>
                        </a:rPr>
                        <a:t>Not practical for this task today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7322D"/>
                          </a:solidFill>
                          <a:latin typeface="Arial"/>
                        </a:rPr>
                        <a:t>Future</a:t>
                      </a:r>
                    </a:p>
                  </a:txBody>
                  <a:tcPr/>
                </a:tc>
              </a:tr>
            </a:tbl>
          </a:graphicData>
        </a:graphic>
      </p:graphicFrame>
      <p:sp>
        <p:nvSpPr>
          <p:cNvPr id="6" name="TextBox 5"/>
          <p:cNvSpPr txBox="1"/>
          <p:nvPr/>
        </p:nvSpPr>
        <p:spPr>
          <a:xfrm>
            <a:off x="11155680" y="6400800"/>
            <a:ext cx="73152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>
                <a:solidFill>
                  <a:srgbClr val="5C726B"/>
                </a:solidFill>
                <a:latin typeface="Arial"/>
              </a:rPr>
              <a:t>8/15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7E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36576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b="1" sz="1200">
                <a:solidFill>
                  <a:srgbClr val="0D7F61"/>
                </a:solidFill>
                <a:latin typeface="Arial"/>
              </a:rPr>
              <a:t>METHODS, SKILLS &amp; TECHNOLOGY USED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640080"/>
            <a:ext cx="109728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b="1" sz="2400">
                <a:solidFill>
                  <a:srgbClr val="17322D"/>
                </a:solidFill>
                <a:latin typeface="Arial"/>
              </a:rPr>
              <a:t>Skills and technologies used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234440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>
                <a:solidFill>
                  <a:srgbClr val="5C726B"/>
                </a:solidFill>
                <a:latin typeface="Arial"/>
              </a:rPr>
              <a:t>Technical stack and learning outcomes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645920"/>
            <a:ext cx="521208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b="1" sz="1600">
                <a:solidFill>
                  <a:srgbClr val="0D7F61"/>
                </a:solidFill>
                <a:latin typeface="Arial"/>
              </a:rPr>
              <a:t>Technologies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217920" y="1645920"/>
            <a:ext cx="521208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b="1" sz="1600">
                <a:solidFill>
                  <a:srgbClr val="C58A31"/>
                </a:solidFill>
                <a:latin typeface="Arial"/>
              </a:rPr>
              <a:t>Skills Developed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40080" y="2011680"/>
            <a:ext cx="5303520" cy="4114800"/>
          </a:xfrm>
          <a:prstGeom prst="roundRect">
            <a:avLst/>
          </a:prstGeom>
          <a:solidFill>
            <a:srgbClr val="FFFFFF"/>
          </a:solidFill>
          <a:ln>
            <a:solidFill>
              <a:srgbClr val="D6E0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lIns="152400" rIns="101600" tIns="101600" bIns="101600" wrap="square"/>
          <a:lstStyle/>
          <a:p>
            <a:pPr algn="ctr">
              <a:spcAft>
                <a:spcPts val="600"/>
              </a:spcAft>
              <a:defRPr sz="1600">
                <a:solidFill>
                  <a:srgbClr val="17322D"/>
                </a:solidFill>
                <a:latin typeface="Arial"/>
              </a:defRPr>
            </a:pPr>
            <a:r>
              <a:t>Python, OpenCV, PyTorch, Ultralytics YOLO</a:t>
            </a:r>
          </a:p>
          <a:p>
            <a:pPr>
              <a:spcAft>
                <a:spcPts val="600"/>
              </a:spcAft>
              <a:defRPr sz="1600">
                <a:solidFill>
                  <a:srgbClr val="17322D"/>
                </a:solidFill>
                <a:latin typeface="Arial"/>
              </a:defRPr>
            </a:pPr>
            <a:r>
              <a:t>Qiskit and Qiskit Machine Learning</a:t>
            </a:r>
          </a:p>
          <a:p>
            <a:pPr>
              <a:spcAft>
                <a:spcPts val="600"/>
              </a:spcAft>
              <a:defRPr sz="1600">
                <a:solidFill>
                  <a:srgbClr val="17322D"/>
                </a:solidFill>
                <a:latin typeface="Arial"/>
              </a:defRPr>
            </a:pPr>
            <a:r>
              <a:t>Tesseract OCR and Microsoft TrOCR</a:t>
            </a:r>
          </a:p>
          <a:p>
            <a:pPr>
              <a:spcAft>
                <a:spcPts val="600"/>
              </a:spcAft>
              <a:defRPr sz="1600">
                <a:solidFill>
                  <a:srgbClr val="17322D"/>
                </a:solidFill>
                <a:latin typeface="Arial"/>
              </a:defRPr>
            </a:pPr>
            <a:r>
              <a:t>Flask, React, JSON-based benchmarking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126480" y="2011680"/>
            <a:ext cx="5303520" cy="4114800"/>
          </a:xfrm>
          <a:prstGeom prst="roundRect">
            <a:avLst/>
          </a:prstGeom>
          <a:solidFill>
            <a:srgbClr val="FFFFFF"/>
          </a:solidFill>
          <a:ln>
            <a:solidFill>
              <a:srgbClr val="D6E0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lIns="152400" rIns="101600" tIns="101600" bIns="101600" wrap="square"/>
          <a:lstStyle/>
          <a:p>
            <a:pPr algn="ctr">
              <a:spcAft>
                <a:spcPts val="600"/>
              </a:spcAft>
              <a:defRPr sz="1600">
                <a:solidFill>
                  <a:srgbClr val="17322D"/>
                </a:solidFill>
                <a:latin typeface="Arial"/>
              </a:defRPr>
            </a:pPr>
            <a:r>
              <a:t>End-to-end AI pipeline integration</a:t>
            </a:r>
          </a:p>
          <a:p>
            <a:pPr>
              <a:spcAft>
                <a:spcPts val="600"/>
              </a:spcAft>
              <a:defRPr sz="1600">
                <a:solidFill>
                  <a:srgbClr val="17322D"/>
                </a:solidFill>
                <a:latin typeface="Arial"/>
              </a:defRPr>
            </a:pPr>
            <a:r>
              <a:t>Dataset preparation and evaluation design</a:t>
            </a:r>
          </a:p>
          <a:p>
            <a:pPr>
              <a:spcAft>
                <a:spcPts val="600"/>
              </a:spcAft>
              <a:defRPr sz="1600">
                <a:solidFill>
                  <a:srgbClr val="17322D"/>
                </a:solidFill>
                <a:latin typeface="Arial"/>
              </a:defRPr>
            </a:pPr>
            <a:r>
              <a:t>Model benchmarking and interpretability</a:t>
            </a:r>
          </a:p>
          <a:p>
            <a:pPr>
              <a:spcAft>
                <a:spcPts val="600"/>
              </a:spcAft>
              <a:defRPr sz="1600">
                <a:solidFill>
                  <a:srgbClr val="17322D"/>
                </a:solidFill>
                <a:latin typeface="Arial"/>
              </a:defRPr>
            </a:pPr>
            <a:r>
              <a:t>Presentation-ready UI and technical documentation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155680" y="6400800"/>
            <a:ext cx="73152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>
                <a:solidFill>
                  <a:srgbClr val="5C726B"/>
                </a:solidFill>
                <a:latin typeface="Arial"/>
              </a:rPr>
              <a:t>9/15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7E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36576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b="1" sz="1200">
                <a:solidFill>
                  <a:srgbClr val="0D7F61"/>
                </a:solidFill>
                <a:latin typeface="Arial"/>
              </a:rPr>
              <a:t>METHODS, SKILLS &amp; TECHNOLOGY USED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640080"/>
            <a:ext cx="109728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b="1" sz="2400">
                <a:solidFill>
                  <a:srgbClr val="17322D"/>
                </a:solidFill>
                <a:latin typeface="Arial"/>
              </a:rPr>
              <a:t>Internship execution and practical learning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234440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>
                <a:solidFill>
                  <a:srgbClr val="5C726B"/>
                </a:solidFill>
                <a:latin typeface="Arial"/>
              </a:rPr>
              <a:t>How the work moved from experimentation to a usable project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828800"/>
            <a:ext cx="10789920" cy="4297680"/>
          </a:xfrm>
          <a:prstGeom prst="roundRect">
            <a:avLst/>
          </a:prstGeom>
          <a:solidFill>
            <a:srgbClr val="FFFFFF"/>
          </a:solidFill>
          <a:ln>
            <a:solidFill>
              <a:srgbClr val="D6E0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lIns="152400" rIns="101600" tIns="101600" bIns="101600" wrap="square"/>
          <a:lstStyle/>
          <a:p>
            <a:pPr algn="ctr">
              <a:spcAft>
                <a:spcPts val="600"/>
              </a:spcAft>
              <a:defRPr sz="1800">
                <a:solidFill>
                  <a:srgbClr val="17322D"/>
                </a:solidFill>
                <a:latin typeface="Arial"/>
              </a:defRPr>
            </a:pPr>
            <a:r>
              <a:t>Structured the detector dataset and the ROI classifier dataset separately.</a:t>
            </a:r>
          </a:p>
          <a:p>
            <a:pPr>
              <a:spcAft>
                <a:spcPts val="600"/>
              </a:spcAft>
              <a:defRPr sz="1800">
                <a:solidFill>
                  <a:srgbClr val="17322D"/>
                </a:solidFill>
                <a:latin typeface="Arial"/>
              </a:defRPr>
            </a:pPr>
            <a:r>
              <a:t>Trained detector, classical models, and multiple quantum-oriented classifier variants.</a:t>
            </a:r>
          </a:p>
          <a:p>
            <a:pPr>
              <a:spcAft>
                <a:spcPts val="600"/>
              </a:spcAft>
              <a:defRPr sz="1800">
                <a:solidFill>
                  <a:srgbClr val="17322D"/>
                </a:solidFill>
                <a:latin typeface="Arial"/>
              </a:defRPr>
            </a:pPr>
            <a:r>
              <a:t>Integrated benchmarking, visualization, and inference into a single UI workflow.</a:t>
            </a:r>
          </a:p>
          <a:p>
            <a:pPr>
              <a:spcAft>
                <a:spcPts val="600"/>
              </a:spcAft>
              <a:defRPr sz="1800">
                <a:solidFill>
                  <a:srgbClr val="17322D"/>
                </a:solidFill>
                <a:latin typeface="Arial"/>
              </a:defRPr>
            </a:pPr>
            <a:r>
              <a:t>Documented the project in report, presentation brief, and evaluation-facing formats.</a:t>
            </a:r>
          </a:p>
          <a:p>
            <a:pPr>
              <a:spcAft>
                <a:spcPts val="600"/>
              </a:spcAft>
              <a:defRPr sz="1800">
                <a:solidFill>
                  <a:srgbClr val="17322D"/>
                </a:solidFill>
                <a:latin typeface="Arial"/>
              </a:defRPr>
            </a:pPr>
            <a:r>
              <a:t>Learned to translate technical results into an honest recommendation for deployment versus research.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155680" y="6400800"/>
            <a:ext cx="73152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>
                <a:solidFill>
                  <a:srgbClr val="5C726B"/>
                </a:solidFill>
                <a:latin typeface="Arial"/>
              </a:rPr>
              <a:t>10/15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7E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36576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b="1" sz="1200">
                <a:solidFill>
                  <a:srgbClr val="0D7F61"/>
                </a:solidFill>
                <a:latin typeface="Arial"/>
              </a:rPr>
              <a:t>GOALS &amp; OBJECTIVE OF INTERNSHIP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640080"/>
            <a:ext cx="109728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b="1" sz="2400">
                <a:solidFill>
                  <a:srgbClr val="17322D"/>
                </a:solidFill>
                <a:latin typeface="Arial"/>
              </a:rPr>
              <a:t>Achievement of internship objectives I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234440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>
                <a:solidFill>
                  <a:srgbClr val="5C726B"/>
                </a:solidFill>
                <a:latin typeface="Arial"/>
              </a:rPr>
              <a:t>Application, Knowledge, Exploration, Identification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645920"/>
            <a:ext cx="521208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b="1" sz="1600">
                <a:solidFill>
                  <a:srgbClr val="0D7F61"/>
                </a:solidFill>
                <a:latin typeface="Arial"/>
              </a:rPr>
              <a:t>Application + Knowledge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217920" y="1645920"/>
            <a:ext cx="521208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b="1" sz="1600">
                <a:solidFill>
                  <a:srgbClr val="C58A31"/>
                </a:solidFill>
                <a:latin typeface="Arial"/>
              </a:rPr>
              <a:t>Exploration + Identification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40080" y="2011680"/>
            <a:ext cx="5303520" cy="4114800"/>
          </a:xfrm>
          <a:prstGeom prst="roundRect">
            <a:avLst/>
          </a:prstGeom>
          <a:solidFill>
            <a:srgbClr val="FFFFFF"/>
          </a:solidFill>
          <a:ln>
            <a:solidFill>
              <a:srgbClr val="D6E0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lIns="152400" rIns="101600" tIns="101600" bIns="101600" wrap="square"/>
          <a:lstStyle/>
          <a:p>
            <a:pPr algn="ctr">
              <a:spcAft>
                <a:spcPts val="600"/>
              </a:spcAft>
              <a:defRPr sz="1600">
                <a:solidFill>
                  <a:srgbClr val="17322D"/>
                </a:solidFill>
                <a:latin typeface="Arial"/>
              </a:defRPr>
            </a:pPr>
            <a:r>
              <a:t>Applied computer-vision, OCR, and ML concepts in a complete working pipeline.</a:t>
            </a:r>
          </a:p>
          <a:p>
            <a:pPr>
              <a:spcAft>
                <a:spcPts val="600"/>
              </a:spcAft>
              <a:defRPr sz="1600">
                <a:solidFill>
                  <a:srgbClr val="17322D"/>
                </a:solidFill>
                <a:latin typeface="Arial"/>
              </a:defRPr>
            </a:pPr>
            <a:r>
              <a:t>Learned how quantum feature encoding fits into a realistic hybrid system.</a:t>
            </a:r>
          </a:p>
          <a:p>
            <a:pPr>
              <a:spcAft>
                <a:spcPts val="600"/>
              </a:spcAft>
              <a:defRPr sz="1600">
                <a:solidFill>
                  <a:srgbClr val="17322D"/>
                </a:solidFill>
                <a:latin typeface="Arial"/>
              </a:defRPr>
            </a:pPr>
            <a:r>
              <a:t>Connected academic concepts to measurable implementation outcomes.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126480" y="2011680"/>
            <a:ext cx="5303520" cy="4114800"/>
          </a:xfrm>
          <a:prstGeom prst="roundRect">
            <a:avLst/>
          </a:prstGeom>
          <a:solidFill>
            <a:srgbClr val="FFFFFF"/>
          </a:solidFill>
          <a:ln>
            <a:solidFill>
              <a:srgbClr val="D6E0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lIns="152400" rIns="101600" tIns="101600" bIns="101600" wrap="square"/>
          <a:lstStyle/>
          <a:p>
            <a:pPr algn="ctr">
              <a:spcAft>
                <a:spcPts val="600"/>
              </a:spcAft>
              <a:defRPr sz="1600">
                <a:solidFill>
                  <a:srgbClr val="17322D"/>
                </a:solidFill>
                <a:latin typeface="Arial"/>
              </a:defRPr>
            </a:pPr>
            <a:r>
              <a:t>Explored multiple encodings, kernels, and model families.</a:t>
            </a:r>
          </a:p>
          <a:p>
            <a:pPr>
              <a:spcAft>
                <a:spcPts val="600"/>
              </a:spcAft>
              <a:defRPr sz="1600">
                <a:solidFill>
                  <a:srgbClr val="17322D"/>
                </a:solidFill>
                <a:latin typeface="Arial"/>
              </a:defRPr>
            </a:pPr>
            <a:r>
              <a:t>Identified where quantum methods are competitive and where classical methods remain stronger.</a:t>
            </a:r>
          </a:p>
          <a:p>
            <a:pPr>
              <a:spcAft>
                <a:spcPts val="600"/>
              </a:spcAft>
              <a:defRPr sz="1600">
                <a:solidFill>
                  <a:srgbClr val="17322D"/>
                </a:solidFill>
                <a:latin typeface="Arial"/>
              </a:defRPr>
            </a:pPr>
            <a:r>
              <a:t>Used held-out benchmarks rather than assumptions to interpret results.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155680" y="6400800"/>
            <a:ext cx="73152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>
                <a:solidFill>
                  <a:srgbClr val="5C726B"/>
                </a:solidFill>
                <a:latin typeface="Arial"/>
              </a:rPr>
              <a:t>11/15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7E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36576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b="1" sz="1200">
                <a:solidFill>
                  <a:srgbClr val="0D7F61"/>
                </a:solidFill>
                <a:latin typeface="Arial"/>
              </a:rPr>
              <a:t>GOALS &amp; OBJECTIVE OF INTERNSHIP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640080"/>
            <a:ext cx="109728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b="1" sz="2400">
                <a:solidFill>
                  <a:srgbClr val="17322D"/>
                </a:solidFill>
                <a:latin typeface="Arial"/>
              </a:rPr>
              <a:t>Achievement of internship objectives II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234440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>
                <a:solidFill>
                  <a:srgbClr val="5C726B"/>
                </a:solidFill>
                <a:latin typeface="Arial"/>
              </a:rPr>
              <a:t>Innovation, Engagement, Evaluation, Demonstration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645920"/>
            <a:ext cx="521208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b="1" sz="1600">
                <a:solidFill>
                  <a:srgbClr val="0D7F61"/>
                </a:solidFill>
                <a:latin typeface="Arial"/>
              </a:rPr>
              <a:t>Innovation + Engagement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217920" y="1645920"/>
            <a:ext cx="521208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b="1" sz="1600">
                <a:solidFill>
                  <a:srgbClr val="C58A31"/>
                </a:solidFill>
                <a:latin typeface="Arial"/>
              </a:rPr>
              <a:t>Evaluation + Demonstration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40080" y="2011680"/>
            <a:ext cx="5303520" cy="4114800"/>
          </a:xfrm>
          <a:prstGeom prst="roundRect">
            <a:avLst/>
          </a:prstGeom>
          <a:solidFill>
            <a:srgbClr val="FFFFFF"/>
          </a:solidFill>
          <a:ln>
            <a:solidFill>
              <a:srgbClr val="D6E0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lIns="152400" rIns="101600" tIns="101600" bIns="101600" wrap="square"/>
          <a:lstStyle/>
          <a:p>
            <a:pPr algn="ctr">
              <a:spcAft>
                <a:spcPts val="600"/>
              </a:spcAft>
              <a:defRPr sz="1600">
                <a:solidFill>
                  <a:srgbClr val="17322D"/>
                </a:solidFill>
                <a:latin typeface="Arial"/>
              </a:defRPr>
            </a:pPr>
            <a:r>
              <a:t>Built a hybrid classical-quantum benchmark platform instead of a single-model demo.</a:t>
            </a:r>
          </a:p>
          <a:p>
            <a:pPr>
              <a:spcAft>
                <a:spcPts val="600"/>
              </a:spcAft>
              <a:defRPr sz="1600">
                <a:solidFill>
                  <a:srgbClr val="17322D"/>
                </a:solidFill>
                <a:latin typeface="Arial"/>
              </a:defRPr>
            </a:pPr>
            <a:r>
              <a:t>Worked across vision, OCR, UI, benchmarking, and documentation.</a:t>
            </a:r>
          </a:p>
          <a:p>
            <a:pPr>
              <a:spcAft>
                <a:spcPts val="600"/>
              </a:spcAft>
              <a:defRPr sz="1600">
                <a:solidFill>
                  <a:srgbClr val="17322D"/>
                </a:solidFill>
                <a:latin typeface="Arial"/>
              </a:defRPr>
            </a:pPr>
            <a:r>
              <a:t>Created a project that supports both engineering and presentation use.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126480" y="2011680"/>
            <a:ext cx="5303520" cy="4114800"/>
          </a:xfrm>
          <a:prstGeom prst="roundRect">
            <a:avLst/>
          </a:prstGeom>
          <a:solidFill>
            <a:srgbClr val="FFFFFF"/>
          </a:solidFill>
          <a:ln>
            <a:solidFill>
              <a:srgbClr val="D6E0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lIns="152400" rIns="101600" tIns="101600" bIns="101600" wrap="square"/>
          <a:lstStyle/>
          <a:p>
            <a:pPr algn="ctr">
              <a:spcAft>
                <a:spcPts val="600"/>
              </a:spcAft>
              <a:defRPr sz="1600">
                <a:solidFill>
                  <a:srgbClr val="17322D"/>
                </a:solidFill>
                <a:latin typeface="Arial"/>
              </a:defRPr>
            </a:pPr>
            <a:r>
              <a:t>Compared all models on the same ROI dataset and benchmark logic.</a:t>
            </a:r>
          </a:p>
          <a:p>
            <a:pPr>
              <a:spcAft>
                <a:spcPts val="600"/>
              </a:spcAft>
              <a:defRPr sz="1600">
                <a:solidFill>
                  <a:srgbClr val="17322D"/>
                </a:solidFill>
                <a:latin typeface="Arial"/>
              </a:defRPr>
            </a:pPr>
            <a:r>
              <a:t>Generated visual charts, tables, and saved artifacts for repeatable evaluation.</a:t>
            </a:r>
          </a:p>
          <a:p>
            <a:pPr>
              <a:spcAft>
                <a:spcPts val="600"/>
              </a:spcAft>
              <a:defRPr sz="1600">
                <a:solidFill>
                  <a:srgbClr val="17322D"/>
                </a:solidFill>
                <a:latin typeface="Arial"/>
              </a:defRPr>
            </a:pPr>
            <a:r>
              <a:t>Prepared a clean full-image inference output for demonstration to mentors and panelists.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155680" y="6400800"/>
            <a:ext cx="73152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>
                <a:solidFill>
                  <a:srgbClr val="5C726B"/>
                </a:solidFill>
                <a:latin typeface="Arial"/>
              </a:rPr>
              <a:t>12/15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7E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36576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b="1" sz="1200">
                <a:solidFill>
                  <a:srgbClr val="0D7F61"/>
                </a:solidFill>
                <a:latin typeface="Arial"/>
              </a:rPr>
              <a:t>RESULTS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640080"/>
            <a:ext cx="109728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b="1" sz="2400">
                <a:solidFill>
                  <a:srgbClr val="17322D"/>
                </a:solidFill>
                <a:latin typeface="Arial"/>
              </a:rPr>
              <a:t>Measured performance summary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234440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>
                <a:solidFill>
                  <a:srgbClr val="5C726B"/>
                </a:solidFill>
                <a:latin typeface="Arial"/>
              </a:rPr>
              <a:t>Detector metrics and top classifier outcomes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828800"/>
            <a:ext cx="1828800" cy="822960"/>
          </a:xfrm>
          <a:prstGeom prst="roundRect">
            <a:avLst/>
          </a:prstGeom>
          <a:solidFill>
            <a:srgbClr val="FFFFFF"/>
          </a:solidFill>
          <a:ln>
            <a:solidFill>
              <a:srgbClr val="0F9B7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100">
                <a:solidFill>
                  <a:srgbClr val="5C726B"/>
                </a:solidFill>
                <a:latin typeface="Arial"/>
              </a:rPr>
              <a:t>Precision</a:t>
            </a:r>
          </a:p>
          <a:p>
            <a:r>
              <a:rPr b="1" sz="1800">
                <a:solidFill>
                  <a:srgbClr val="17322D"/>
                </a:solidFill>
                <a:latin typeface="Arial"/>
              </a:rPr>
              <a:t>0.9005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2743200" y="1828800"/>
            <a:ext cx="1828800" cy="822960"/>
          </a:xfrm>
          <a:prstGeom prst="roundRect">
            <a:avLst/>
          </a:prstGeom>
          <a:solidFill>
            <a:srgbClr val="FFFFFF"/>
          </a:solidFill>
          <a:ln>
            <a:solidFill>
              <a:srgbClr val="C58A3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100">
                <a:solidFill>
                  <a:srgbClr val="5C726B"/>
                </a:solidFill>
                <a:latin typeface="Arial"/>
              </a:rPr>
              <a:t>Recall</a:t>
            </a:r>
          </a:p>
          <a:p>
            <a:r>
              <a:rPr b="1" sz="1800">
                <a:solidFill>
                  <a:srgbClr val="17322D"/>
                </a:solidFill>
                <a:latin typeface="Arial"/>
              </a:rPr>
              <a:t>0.9497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754880" y="1828800"/>
            <a:ext cx="1828800" cy="822960"/>
          </a:xfrm>
          <a:prstGeom prst="roundRect">
            <a:avLst/>
          </a:prstGeom>
          <a:solidFill>
            <a:srgbClr val="FFFFFF"/>
          </a:solidFill>
          <a:ln>
            <a:solidFill>
              <a:srgbClr val="0D7F6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100">
                <a:solidFill>
                  <a:srgbClr val="5C726B"/>
                </a:solidFill>
                <a:latin typeface="Arial"/>
              </a:rPr>
              <a:t>mAP@50</a:t>
            </a:r>
          </a:p>
          <a:p>
            <a:r>
              <a:rPr b="1" sz="1800">
                <a:solidFill>
                  <a:srgbClr val="17322D"/>
                </a:solidFill>
                <a:latin typeface="Arial"/>
              </a:rPr>
              <a:t>0.9559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766560" y="1828800"/>
            <a:ext cx="1828800" cy="822960"/>
          </a:xfrm>
          <a:prstGeom prst="roundRect">
            <a:avLst/>
          </a:prstGeom>
          <a:solidFill>
            <a:srgbClr val="FFFFFF"/>
          </a:solidFill>
          <a:ln>
            <a:solidFill>
              <a:srgbClr val="C58A3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100">
                <a:solidFill>
                  <a:srgbClr val="5C726B"/>
                </a:solidFill>
                <a:latin typeface="Arial"/>
              </a:rPr>
              <a:t>mAP@50-95</a:t>
            </a:r>
          </a:p>
          <a:p>
            <a:r>
              <a:rPr b="1" sz="1800">
                <a:solidFill>
                  <a:srgbClr val="17322D"/>
                </a:solidFill>
                <a:latin typeface="Arial"/>
              </a:rPr>
              <a:t>0.6116</a:t>
            </a:r>
          </a:p>
        </p:txBody>
      </p:sp>
      <p:graphicFrame>
        <p:nvGraphicFramePr>
          <p:cNvPr id="9" name="Table 8"/>
          <p:cNvGraphicFramePr>
            <a:graphicFrameLocks noGrp="1"/>
          </p:cNvGraphicFramePr>
          <p:nvPr/>
        </p:nvGraphicFramePr>
        <p:xfrm>
          <a:off x="731520" y="2926080"/>
          <a:ext cx="10698480" cy="27432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674620"/>
                <a:gridCol w="2674620"/>
                <a:gridCol w="2674620"/>
                <a:gridCol w="2674620"/>
              </a:tblGrid>
              <a:tr h="457200"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7322D"/>
                          </a:solidFill>
                          <a:latin typeface="Arial"/>
                        </a:rPr>
                        <a:t>Model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7322D"/>
                          </a:solidFill>
                          <a:latin typeface="Arial"/>
                        </a:rPr>
                        <a:t>Family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7322D"/>
                          </a:solidFill>
                          <a:latin typeface="Arial"/>
                        </a:rPr>
                        <a:t>Accuracy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7322D"/>
                          </a:solidFill>
                          <a:latin typeface="Arial"/>
                        </a:rPr>
                        <a:t>Train Time (s)</a:t>
                      </a:r>
                    </a:p>
                  </a:txBody>
                  <a:tcPr/>
                </a:tc>
              </a:tr>
              <a:tr h="457200"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7322D"/>
                          </a:solidFill>
                          <a:latin typeface="Arial"/>
                        </a:rPr>
                        <a:t>Classical SVM (RBF)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7322D"/>
                          </a:solidFill>
                          <a:latin typeface="Arial"/>
                        </a:rPr>
                        <a:t>classical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7322D"/>
                          </a:solidFill>
                          <a:latin typeface="Arial"/>
                        </a:rPr>
                        <a:t>99.50%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7322D"/>
                          </a:solidFill>
                          <a:latin typeface="Arial"/>
                        </a:rPr>
                        <a:t>54.49</a:t>
                      </a:r>
                    </a:p>
                  </a:txBody>
                  <a:tcPr/>
                </a:tc>
              </a:tr>
              <a:tr h="457200"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7322D"/>
                          </a:solidFill>
                          <a:latin typeface="Arial"/>
                        </a:rPr>
                        <a:t>Logistic Regression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7322D"/>
                          </a:solidFill>
                          <a:latin typeface="Arial"/>
                        </a:rPr>
                        <a:t>classical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7322D"/>
                          </a:solidFill>
                          <a:latin typeface="Arial"/>
                        </a:rPr>
                        <a:t>99.50%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7322D"/>
                          </a:solidFill>
                          <a:latin typeface="Arial"/>
                        </a:rPr>
                        <a:t>54.62</a:t>
                      </a:r>
                    </a:p>
                  </a:txBody>
                  <a:tcPr/>
                </a:tc>
              </a:tr>
              <a:tr h="457200"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7322D"/>
                          </a:solidFill>
                          <a:latin typeface="Arial"/>
                        </a:rPr>
                        <a:t>MLP Classifier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7322D"/>
                          </a:solidFill>
                          <a:latin typeface="Arial"/>
                        </a:rPr>
                        <a:t>classical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7322D"/>
                          </a:solidFill>
                          <a:latin typeface="Arial"/>
                        </a:rPr>
                        <a:t>99.50%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7322D"/>
                          </a:solidFill>
                          <a:latin typeface="Arial"/>
                        </a:rPr>
                        <a:t>54.97</a:t>
                      </a:r>
                    </a:p>
                  </a:txBody>
                  <a:tcPr/>
                </a:tc>
              </a:tr>
              <a:tr h="457200"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7322D"/>
                          </a:solidFill>
                          <a:latin typeface="Arial"/>
                        </a:rPr>
                        <a:t>QSVM ZZ Kernel Linear (amplitude)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7322D"/>
                          </a:solidFill>
                          <a:latin typeface="Arial"/>
                        </a:rPr>
                        <a:t>quantum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7322D"/>
                          </a:solidFill>
                          <a:latin typeface="Arial"/>
                        </a:rPr>
                        <a:t>99.50%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7322D"/>
                          </a:solidFill>
                          <a:latin typeface="Arial"/>
                        </a:rPr>
                        <a:t>519.16</a:t>
                      </a:r>
                    </a:p>
                  </a:txBody>
                  <a:tcPr/>
                </a:tc>
              </a:tr>
              <a:tr h="457200"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7322D"/>
                          </a:solidFill>
                          <a:latin typeface="Arial"/>
                        </a:rPr>
                        <a:t>Random Forest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7322D"/>
                          </a:solidFill>
                          <a:latin typeface="Arial"/>
                        </a:rPr>
                        <a:t>classical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7322D"/>
                          </a:solidFill>
                          <a:latin typeface="Arial"/>
                        </a:rPr>
                        <a:t>99.00%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7322D"/>
                          </a:solidFill>
                          <a:latin typeface="Arial"/>
                        </a:rPr>
                        <a:t>61.87</a:t>
                      </a:r>
                    </a:p>
                  </a:txBody>
                  <a:tcPr/>
                </a:tc>
              </a:tr>
            </a:tbl>
          </a:graphicData>
        </a:graphic>
      </p:graphicFrame>
      <p:sp>
        <p:nvSpPr>
          <p:cNvPr id="10" name="TextBox 9"/>
          <p:cNvSpPr txBox="1"/>
          <p:nvPr/>
        </p:nvSpPr>
        <p:spPr>
          <a:xfrm>
            <a:off x="11155680" y="6400800"/>
            <a:ext cx="73152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>
                <a:solidFill>
                  <a:srgbClr val="5C726B"/>
                </a:solidFill>
                <a:latin typeface="Arial"/>
              </a:rPr>
              <a:t>13/15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7E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36576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b="1" sz="1200">
                <a:solidFill>
                  <a:srgbClr val="0D7F61"/>
                </a:solidFill>
                <a:latin typeface="Arial"/>
              </a:rPr>
              <a:t>RESULTS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640080"/>
            <a:ext cx="109728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b="1" sz="2400">
                <a:solidFill>
                  <a:srgbClr val="17322D"/>
                </a:solidFill>
                <a:latin typeface="Arial"/>
              </a:rPr>
              <a:t>Benchmark comparison and recommendation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234440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>
                <a:solidFill>
                  <a:srgbClr val="5C726B"/>
                </a:solidFill>
                <a:latin typeface="Arial"/>
              </a:rPr>
              <a:t>Why the current production recommendation is classical while hybrid quantum remains valuable</a:t>
            </a:r>
          </a:p>
        </p:txBody>
      </p:sp>
      <p:graphicFrame>
        <p:nvGraphicFramePr>
          <p:cNvPr id="5" name="Chart 4"/>
          <p:cNvGraphicFramePr>
            <a:graphicFrameLocks noGrp="1"/>
          </p:cNvGraphicFramePr>
          <p:nvPr/>
        </p:nvGraphicFramePr>
        <p:xfrm>
          <a:off x="640080" y="1737360"/>
          <a:ext cx="6126480" cy="384048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6" name="Rounded Rectangle 5"/>
          <p:cNvSpPr/>
          <p:nvPr/>
        </p:nvSpPr>
        <p:spPr>
          <a:xfrm>
            <a:off x="7132320" y="1828800"/>
            <a:ext cx="4389120" cy="3657600"/>
          </a:xfrm>
          <a:prstGeom prst="roundRect">
            <a:avLst/>
          </a:prstGeom>
          <a:solidFill>
            <a:srgbClr val="FFFFFF"/>
          </a:solidFill>
          <a:ln>
            <a:solidFill>
              <a:srgbClr val="D6E0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lIns="152400" rIns="101600" tIns="101600" bIns="101600" wrap="square"/>
          <a:lstStyle/>
          <a:p>
            <a:pPr algn="ctr">
              <a:spcAft>
                <a:spcPts val="600"/>
              </a:spcAft>
              <a:defRPr sz="1500">
                <a:solidFill>
                  <a:srgbClr val="17322D"/>
                </a:solidFill>
                <a:latin typeface="Arial"/>
              </a:defRPr>
            </a:pPr>
            <a:r>
              <a:t>Recommended stack: yolo + Classical SVM (RBF) + ensemble</a:t>
            </a:r>
          </a:p>
          <a:p>
            <a:pPr>
              <a:spcAft>
                <a:spcPts val="600"/>
              </a:spcAft>
              <a:defRPr sz="1500">
                <a:solidFill>
                  <a:srgbClr val="17322D"/>
                </a:solidFill>
                <a:latin typeface="Arial"/>
              </a:defRPr>
            </a:pPr>
            <a:r>
              <a:t>Best production result is currently classical because it matches top accuracy with lower training cost.</a:t>
            </a:r>
          </a:p>
          <a:p>
            <a:pPr>
              <a:spcAft>
                <a:spcPts val="600"/>
              </a:spcAft>
              <a:defRPr sz="1500">
                <a:solidFill>
                  <a:srgbClr val="17322D"/>
                </a:solidFill>
                <a:latin typeface="Arial"/>
              </a:defRPr>
            </a:pPr>
            <a:r>
              <a:t>Best quantum-side result is the amplitude QSVM, which is competitive in accuracy but slower to train.</a:t>
            </a:r>
          </a:p>
          <a:p>
            <a:pPr>
              <a:spcAft>
                <a:spcPts val="600"/>
              </a:spcAft>
              <a:defRPr sz="1500">
                <a:solidFill>
                  <a:srgbClr val="17322D"/>
                </a:solidFill>
                <a:latin typeface="Arial"/>
              </a:defRPr>
            </a:pPr>
            <a:r>
              <a:t>Conclusion: deploy classical now, continue hybrid quantum as the innovation track.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155680" y="6400800"/>
            <a:ext cx="73152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>
                <a:solidFill>
                  <a:srgbClr val="5C726B"/>
                </a:solidFill>
                <a:latin typeface="Arial"/>
              </a:rPr>
              <a:t>14/15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7E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36576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b="1" sz="1200">
                <a:solidFill>
                  <a:srgbClr val="0D7F61"/>
                </a:solidFill>
                <a:latin typeface="Arial"/>
              </a:rPr>
              <a:t>FUTURE SCOPE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640080"/>
            <a:ext cx="109728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b="1" sz="2400">
                <a:solidFill>
                  <a:srgbClr val="17322D"/>
                </a:solidFill>
                <a:latin typeface="Arial"/>
              </a:rPr>
              <a:t>Next steps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234440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>
                <a:solidFill>
                  <a:srgbClr val="5C726B"/>
                </a:solidFill>
                <a:latin typeface="Arial"/>
              </a:rPr>
              <a:t>Technical improvement path after the internship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822960" y="1828800"/>
            <a:ext cx="10515600" cy="4206240"/>
          </a:xfrm>
          <a:prstGeom prst="roundRect">
            <a:avLst/>
          </a:prstGeom>
          <a:solidFill>
            <a:srgbClr val="FFFFFF"/>
          </a:solidFill>
          <a:ln>
            <a:solidFill>
              <a:srgbClr val="D6E0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lIns="152400" rIns="101600" tIns="101600" bIns="101600" wrap="square"/>
          <a:lstStyle/>
          <a:p>
            <a:pPr algn="ctr">
              <a:spcAft>
                <a:spcPts val="600"/>
              </a:spcAft>
              <a:defRPr sz="1800">
                <a:solidFill>
                  <a:srgbClr val="17322D"/>
                </a:solidFill>
                <a:latin typeface="Arial"/>
              </a:defRPr>
            </a:pPr>
            <a:r>
              <a:t>Add true end-to-end validation on full-scene test images instead of relying only on a composite proxy score.</a:t>
            </a:r>
          </a:p>
          <a:p>
            <a:pPr>
              <a:spcAft>
                <a:spcPts val="600"/>
              </a:spcAft>
              <a:defRPr sz="1800">
                <a:solidFill>
                  <a:srgbClr val="17322D"/>
                </a:solidFill>
                <a:latin typeface="Arial"/>
              </a:defRPr>
            </a:pPr>
            <a:r>
              <a:t>Improve OCR robustness for small, reflective, and partially visible labels.</a:t>
            </a:r>
          </a:p>
          <a:p>
            <a:pPr>
              <a:spcAft>
                <a:spcPts val="600"/>
              </a:spcAft>
              <a:defRPr sz="1800">
                <a:solidFill>
                  <a:srgbClr val="17322D"/>
                </a:solidFill>
                <a:latin typeface="Arial"/>
              </a:defRPr>
            </a:pPr>
            <a:r>
              <a:t>Extend unsupported-object handling and open-set detection logic.</a:t>
            </a:r>
          </a:p>
          <a:p>
            <a:pPr>
              <a:spcAft>
                <a:spcPts val="600"/>
              </a:spcAft>
              <a:defRPr sz="1800">
                <a:solidFill>
                  <a:srgbClr val="17322D"/>
                </a:solidFill>
                <a:latin typeface="Arial"/>
              </a:defRPr>
            </a:pPr>
            <a:r>
              <a:t>Continue quantum experiments only where they provide measurable value over strong classical baselines.</a:t>
            </a:r>
          </a:p>
          <a:p>
            <a:pPr>
              <a:spcAft>
                <a:spcPts val="600"/>
              </a:spcAft>
              <a:defRPr sz="1800">
                <a:solidFill>
                  <a:srgbClr val="17322D"/>
                </a:solidFill>
                <a:latin typeface="Arial"/>
              </a:defRPr>
            </a:pPr>
            <a:r>
              <a:t>Export benchmark summaries and presentation outputs automatically for review meetings.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" y="6217920"/>
            <a:ext cx="96012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b="1" sz="1500">
                <a:solidFill>
                  <a:srgbClr val="0D7F61"/>
                </a:solidFill>
                <a:latin typeface="Arial"/>
              </a:rPr>
              <a:t>Final takeaway: classical is the strongest production path today, while hybrid quantum is the strongest innovation path.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155680" y="6400800"/>
            <a:ext cx="73152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>
                <a:solidFill>
                  <a:srgbClr val="5C726B"/>
                </a:solidFill>
                <a:latin typeface="Arial"/>
              </a:rPr>
              <a:t>15/15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