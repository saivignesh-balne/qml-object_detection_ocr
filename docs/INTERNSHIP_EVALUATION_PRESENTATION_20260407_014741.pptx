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ROI classifier accuracy across all available models</a:t>
            </a:r>
          </a:p>
        </c:rich>
      </c:tx>
      <c:layout/>
      <c:overlay val="0"/>
    </c:title>
    <c:autoTitleDeleted val="0"/>
    <c:plotArea>
      <c:barChart>
        <c:barDir val="bar"/>
        <c:grouping val="clustered"/>
        <c:ser>
          <c:idx val="0"/>
          <c:order val="0"/>
          <c:tx>
            <c:strRef>
              <c:f>Sheet1!$B$1</c:f>
              <c:strCache>
                <c:ptCount val="1"/>
                <c:pt idx="0">
                  <c:v>ROI classifier accuracy across all available models</c:v>
                </c:pt>
              </c:strCache>
            </c:strRef>
          </c:tx>
          <c:spPr>
            <a:solidFill>
              <a:srgbClr val="2271B3"/>
            </a:solidFill>
            <a:ln>
              <a:solidFill>
                <a:srgbClr val="2271B3"/>
              </a:solidFill>
            </a:ln>
          </c:spPr>
          <c:cat>
            <c:strRef>
              <c:f>Sheet1!$A$2:$A$11</c:f>
              <c:strCache>
                <c:ptCount val="10"/>
                <c:pt idx="0">
                  <c:v>Classical SVM [C]</c:v>
                </c:pt>
                <c:pt idx="1">
                  <c:v>Logistic Regression [C]</c:v>
                </c:pt>
                <c:pt idx="2">
                  <c:v>MLP Classifier [C]</c:v>
                </c:pt>
                <c:pt idx="3">
                  <c:v>QSVM Linear Amp [Q]</c:v>
                </c:pt>
                <c:pt idx="4">
                  <c:v>Random Forest [C]</c:v>
                </c:pt>
                <c:pt idx="5">
                  <c:v>QSVM Pauli [Q]</c:v>
                </c:pt>
                <c:pt idx="6">
                  <c:v>QSVM Linear Angle [Q]</c:v>
                </c:pt>
                <c:pt idx="7">
                  <c:v>QSVM Full Angle [Q]</c:v>
                </c:pt>
                <c:pt idx="8">
                  <c:v>VQC RealAmp [Q]</c:v>
                </c:pt>
                <c:pt idx="9">
                  <c:v>VQC EfficientSU2 [Q]</c:v>
                </c:pt>
              </c:strCache>
            </c:strRef>
          </c:cat>
          <c:val>
            <c:numRef>
              <c:f>Sheet1!$B$2:$B$11</c:f>
              <c:numCache>
                <c:formatCode>General</c:formatCode>
                <c:ptCount val="10"/>
                <c:pt idx="0">
                  <c:v>99.5</c:v>
                </c:pt>
                <c:pt idx="1">
                  <c:v>99.5</c:v>
                </c:pt>
                <c:pt idx="2">
                  <c:v>99.5</c:v>
                </c:pt>
                <c:pt idx="3">
                  <c:v>99.5</c:v>
                </c:pt>
                <c:pt idx="4">
                  <c:v>99.0</c:v>
                </c:pt>
                <c:pt idx="5">
                  <c:v>90.0</c:v>
                </c:pt>
                <c:pt idx="6">
                  <c:v>81.0</c:v>
                </c:pt>
                <c:pt idx="7">
                  <c:v>74.5</c:v>
                </c:pt>
                <c:pt idx="8">
                  <c:v>44.0</c:v>
                </c:pt>
                <c:pt idx="9">
                  <c:v>43.0</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850"/>
            </a:pPr>
          </a:p>
        </c:txPr>
        <c:crossAx val="-2113994440"/>
        <c:crosses val="autoZero"/>
        <c:auto val="1"/>
        <c:lblAlgn val="ctr"/>
        <c:lblOffset val="100"/>
        <c:noMultiLvlLbl val="0"/>
      </c:catAx>
      <c:valAx>
        <c:axId val="-2113994440"/>
        <c:scaling>
          <c:max val="104.5"/>
          <c:min val="0.0"/>
        </c:scaling>
        <c:delete val="0"/>
        <c:axPos val="b"/>
        <c:majorGridlines>
          <c:spPr>
            <a:ln>
              <a:solidFill>
                <a:srgbClr val="D6DCE4"/>
              </a:solidFill>
            </a:ln>
          </c:spPr>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82E"/>
        </a:solidFill>
        <a:effectLst/>
      </p:bgPr>
    </p:bg>
    <p:spTree>
      <p:nvGrpSpPr>
        <p:cNvPr id="1" name=""/>
        <p:cNvGrpSpPr/>
        <p:nvPr/>
      </p:nvGrpSpPr>
      <p:grpSpPr/>
      <p:sp>
        <p:nvSpPr>
          <p:cNvPr id="2" name="Rectangle 1"/>
          <p:cNvSpPr/>
          <p:nvPr/>
        </p:nvSpPr>
        <p:spPr>
          <a:xfrm>
            <a:off x="0" y="502920"/>
            <a:ext cx="12191695" cy="73152"/>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05840"/>
            <a:ext cx="7863840" cy="1463040"/>
          </a:xfrm>
          <a:prstGeom prst="rect">
            <a:avLst/>
          </a:prstGeom>
          <a:noFill/>
        </p:spPr>
        <p:txBody>
          <a:bodyPr wrap="square">
            <a:spAutoFit/>
          </a:bodyPr>
          <a:lstStyle/>
          <a:p>
            <a:r>
              <a:rPr b="1" sz="2800">
                <a:solidFill>
                  <a:srgbClr val="FFFFFF"/>
                </a:solidFill>
                <a:latin typeface="Arial"/>
              </a:rPr>
              <a:t>Hybrid Quantum Machine Learning
for Object Detection Research and OCR</a:t>
            </a:r>
          </a:p>
        </p:txBody>
      </p:sp>
      <p:sp>
        <p:nvSpPr>
          <p:cNvPr id="4" name="TextBox 3"/>
          <p:cNvSpPr txBox="1"/>
          <p:nvPr/>
        </p:nvSpPr>
        <p:spPr>
          <a:xfrm>
            <a:off x="713232" y="2743200"/>
            <a:ext cx="7132320" cy="914400"/>
          </a:xfrm>
          <a:prstGeom prst="rect">
            <a:avLst/>
          </a:prstGeom>
          <a:noFill/>
        </p:spPr>
        <p:txBody>
          <a:bodyPr wrap="square">
            <a:spAutoFit/>
          </a:bodyPr>
          <a:lstStyle/>
          <a:p>
            <a:r>
              <a:rPr sz="1800">
                <a:solidFill>
                  <a:srgbClr val="D7DFEC"/>
                </a:solidFill>
                <a:latin typeface="Arial"/>
              </a:rPr>
              <a:t>Internship Evaluation Presentation</a:t>
            </a:r>
          </a:p>
          <a:p>
            <a:r>
              <a:rPr sz="1200">
                <a:solidFill>
                  <a:srgbClr val="C0CBDC"/>
                </a:solidFill>
                <a:latin typeface="Arial"/>
              </a:rPr>
              <a:t>Research theme: Classical vs Hybrid Quantum Benchmarking | 07 April 2026</a:t>
            </a:r>
          </a:p>
        </p:txBody>
      </p:sp>
      <p:sp>
        <p:nvSpPr>
          <p:cNvPr id="5" name="Rounded Rectangle 4"/>
          <p:cNvSpPr/>
          <p:nvPr/>
        </p:nvSpPr>
        <p:spPr>
          <a:xfrm>
            <a:off x="8458200" y="123444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58200" y="1234440"/>
            <a:ext cx="91440" cy="960120"/>
          </a:xfrm>
          <a:prstGeom prst="rect">
            <a:avLst/>
          </a:prstGeom>
          <a:solidFill>
            <a:srgbClr val="008071"/>
          </a:solidFill>
          <a:ln>
            <a:solidFill>
              <a:srgbClr val="0080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22792" y="1344168"/>
            <a:ext cx="1645920" cy="182880"/>
          </a:xfrm>
          <a:prstGeom prst="rect">
            <a:avLst/>
          </a:prstGeom>
          <a:noFill/>
        </p:spPr>
        <p:txBody>
          <a:bodyPr wrap="none">
            <a:spAutoFit/>
          </a:bodyPr>
          <a:lstStyle/>
          <a:p>
            <a:r>
              <a:rPr sz="1000">
                <a:solidFill>
                  <a:srgbClr val="586478"/>
                </a:solidFill>
                <a:latin typeface="Arial"/>
              </a:rPr>
              <a:t>Primary Objective</a:t>
            </a:r>
          </a:p>
        </p:txBody>
      </p:sp>
      <p:sp>
        <p:nvSpPr>
          <p:cNvPr id="8" name="TextBox 7"/>
          <p:cNvSpPr txBox="1"/>
          <p:nvPr/>
        </p:nvSpPr>
        <p:spPr>
          <a:xfrm>
            <a:off x="8622792" y="1545336"/>
            <a:ext cx="1645920" cy="310896"/>
          </a:xfrm>
          <a:prstGeom prst="rect">
            <a:avLst/>
          </a:prstGeom>
          <a:noFill/>
        </p:spPr>
        <p:txBody>
          <a:bodyPr wrap="none">
            <a:spAutoFit/>
          </a:bodyPr>
          <a:lstStyle/>
          <a:p>
            <a:r>
              <a:rPr b="1" sz="1900">
                <a:solidFill>
                  <a:srgbClr val="0D182E"/>
                </a:solidFill>
                <a:latin typeface="Arial"/>
              </a:rPr>
              <a:t>QML Research</a:t>
            </a:r>
          </a:p>
        </p:txBody>
      </p:sp>
      <p:sp>
        <p:nvSpPr>
          <p:cNvPr id="9" name="TextBox 8"/>
          <p:cNvSpPr txBox="1"/>
          <p:nvPr/>
        </p:nvSpPr>
        <p:spPr>
          <a:xfrm>
            <a:off x="8622792" y="1874520"/>
            <a:ext cx="1645920" cy="164592"/>
          </a:xfrm>
          <a:prstGeom prst="rect">
            <a:avLst/>
          </a:prstGeom>
          <a:noFill/>
        </p:spPr>
        <p:txBody>
          <a:bodyPr wrap="none">
            <a:spAutoFit/>
          </a:bodyPr>
          <a:lstStyle/>
          <a:p>
            <a:r>
              <a:rPr sz="850">
                <a:solidFill>
                  <a:srgbClr val="586478"/>
                </a:solidFill>
                <a:latin typeface="Arial"/>
              </a:rPr>
              <a:t>Benchmark-driven evaluation</a:t>
            </a:r>
          </a:p>
        </p:txBody>
      </p:sp>
      <p:sp>
        <p:nvSpPr>
          <p:cNvPr id="10" name="Rounded Rectangle 9"/>
          <p:cNvSpPr/>
          <p:nvPr/>
        </p:nvSpPr>
        <p:spPr>
          <a:xfrm>
            <a:off x="8458200" y="242316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58200" y="2423160"/>
            <a:ext cx="91440" cy="960120"/>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22792" y="2532888"/>
            <a:ext cx="1645920" cy="182880"/>
          </a:xfrm>
          <a:prstGeom prst="rect">
            <a:avLst/>
          </a:prstGeom>
          <a:noFill/>
        </p:spPr>
        <p:txBody>
          <a:bodyPr wrap="none">
            <a:spAutoFit/>
          </a:bodyPr>
          <a:lstStyle/>
          <a:p>
            <a:r>
              <a:rPr sz="1000">
                <a:solidFill>
                  <a:srgbClr val="586478"/>
                </a:solidFill>
                <a:latin typeface="Arial"/>
              </a:rPr>
              <a:t>Benchmark Set</a:t>
            </a:r>
          </a:p>
        </p:txBody>
      </p:sp>
      <p:sp>
        <p:nvSpPr>
          <p:cNvPr id="13" name="TextBox 12"/>
          <p:cNvSpPr txBox="1"/>
          <p:nvPr/>
        </p:nvSpPr>
        <p:spPr>
          <a:xfrm>
            <a:off x="8622792" y="2734056"/>
            <a:ext cx="1645920" cy="310896"/>
          </a:xfrm>
          <a:prstGeom prst="rect">
            <a:avLst/>
          </a:prstGeom>
          <a:noFill/>
        </p:spPr>
        <p:txBody>
          <a:bodyPr wrap="none">
            <a:spAutoFit/>
          </a:bodyPr>
          <a:lstStyle/>
          <a:p>
            <a:r>
              <a:rPr b="1" sz="1900">
                <a:solidFill>
                  <a:srgbClr val="0D182E"/>
                </a:solidFill>
                <a:latin typeface="Arial"/>
              </a:rPr>
              <a:t>3 Classes</a:t>
            </a:r>
          </a:p>
        </p:txBody>
      </p:sp>
      <p:sp>
        <p:nvSpPr>
          <p:cNvPr id="14" name="TextBox 13"/>
          <p:cNvSpPr txBox="1"/>
          <p:nvPr/>
        </p:nvSpPr>
        <p:spPr>
          <a:xfrm>
            <a:off x="8622792" y="3063240"/>
            <a:ext cx="1645920" cy="164592"/>
          </a:xfrm>
          <a:prstGeom prst="rect">
            <a:avLst/>
          </a:prstGeom>
          <a:noFill/>
        </p:spPr>
        <p:txBody>
          <a:bodyPr wrap="none">
            <a:spAutoFit/>
          </a:bodyPr>
          <a:lstStyle/>
          <a:p>
            <a:r>
              <a:rPr sz="850">
                <a:solidFill>
                  <a:srgbClr val="586478"/>
                </a:solidFill>
                <a:latin typeface="Arial"/>
              </a:rPr>
              <a:t>Bottle, chip packet, medicine box</a:t>
            </a:r>
          </a:p>
        </p:txBody>
      </p:sp>
      <p:sp>
        <p:nvSpPr>
          <p:cNvPr id="15" name="Rounded Rectangle 14"/>
          <p:cNvSpPr/>
          <p:nvPr/>
        </p:nvSpPr>
        <p:spPr>
          <a:xfrm>
            <a:off x="8458200" y="361188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58200" y="3611880"/>
            <a:ext cx="91440" cy="960120"/>
          </a:xfrm>
          <a:prstGeom prst="rect">
            <a:avLst/>
          </a:prstGeom>
          <a:solidFill>
            <a:srgbClr val="2271B3"/>
          </a:solidFill>
          <a:ln>
            <a:solidFill>
              <a:srgbClr val="2271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2792" y="3721608"/>
            <a:ext cx="1645920" cy="182880"/>
          </a:xfrm>
          <a:prstGeom prst="rect">
            <a:avLst/>
          </a:prstGeom>
          <a:noFill/>
        </p:spPr>
        <p:txBody>
          <a:bodyPr wrap="none">
            <a:spAutoFit/>
          </a:bodyPr>
          <a:lstStyle/>
          <a:p>
            <a:r>
              <a:rPr sz="1000">
                <a:solidFill>
                  <a:srgbClr val="586478"/>
                </a:solidFill>
                <a:latin typeface="Arial"/>
              </a:rPr>
              <a:t>Recommendation</a:t>
            </a:r>
          </a:p>
        </p:txBody>
      </p:sp>
      <p:sp>
        <p:nvSpPr>
          <p:cNvPr id="18" name="TextBox 17"/>
          <p:cNvSpPr txBox="1"/>
          <p:nvPr/>
        </p:nvSpPr>
        <p:spPr>
          <a:xfrm>
            <a:off x="8622792" y="3922776"/>
            <a:ext cx="1645920" cy="310896"/>
          </a:xfrm>
          <a:prstGeom prst="rect">
            <a:avLst/>
          </a:prstGeom>
          <a:noFill/>
        </p:spPr>
        <p:txBody>
          <a:bodyPr wrap="none">
            <a:spAutoFit/>
          </a:bodyPr>
          <a:lstStyle/>
          <a:p>
            <a:r>
              <a:rPr b="1" sz="1900">
                <a:solidFill>
                  <a:srgbClr val="0D182E"/>
                </a:solidFill>
                <a:latin typeface="Arial"/>
              </a:rPr>
              <a:t>Classical Stack</a:t>
            </a:r>
          </a:p>
        </p:txBody>
      </p:sp>
      <p:sp>
        <p:nvSpPr>
          <p:cNvPr id="19" name="TextBox 18"/>
          <p:cNvSpPr txBox="1"/>
          <p:nvPr/>
        </p:nvSpPr>
        <p:spPr>
          <a:xfrm>
            <a:off x="8622792" y="4251960"/>
            <a:ext cx="1645920" cy="164592"/>
          </a:xfrm>
          <a:prstGeom prst="rect">
            <a:avLst/>
          </a:prstGeom>
          <a:noFill/>
        </p:spPr>
        <p:txBody>
          <a:bodyPr wrap="none">
            <a:spAutoFit/>
          </a:bodyPr>
          <a:lstStyle/>
          <a:p>
            <a:r>
              <a:rPr sz="850">
                <a:solidFill>
                  <a:srgbClr val="586478"/>
                </a:solidFill>
                <a:latin typeface="Arial"/>
              </a:rPr>
              <a:t>YOLO + SVM + OCR ensemble</a:t>
            </a:r>
          </a:p>
        </p:txBody>
      </p:sp>
      <p:sp>
        <p:nvSpPr>
          <p:cNvPr id="20" name="Rounded Rectangle 19"/>
          <p:cNvSpPr/>
          <p:nvPr/>
        </p:nvSpPr>
        <p:spPr>
          <a:xfrm>
            <a:off x="8458200" y="48006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58200" y="4800600"/>
            <a:ext cx="91440" cy="960120"/>
          </a:xfrm>
          <a:prstGeom prst="rect">
            <a:avLst/>
          </a:prstGeom>
          <a:solidFill>
            <a:srgbClr val="7A4DC4"/>
          </a:solidFill>
          <a:ln>
            <a:solidFill>
              <a:srgbClr val="7A4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4910328"/>
            <a:ext cx="1645920" cy="182880"/>
          </a:xfrm>
          <a:prstGeom prst="rect">
            <a:avLst/>
          </a:prstGeom>
          <a:noFill/>
        </p:spPr>
        <p:txBody>
          <a:bodyPr wrap="none">
            <a:spAutoFit/>
          </a:bodyPr>
          <a:lstStyle/>
          <a:p>
            <a:r>
              <a:rPr sz="1000">
                <a:solidFill>
                  <a:srgbClr val="586478"/>
                </a:solidFill>
                <a:latin typeface="Arial"/>
              </a:rPr>
              <a:t>Innovation Track</a:t>
            </a:r>
          </a:p>
        </p:txBody>
      </p:sp>
      <p:sp>
        <p:nvSpPr>
          <p:cNvPr id="23" name="TextBox 22"/>
          <p:cNvSpPr txBox="1"/>
          <p:nvPr/>
        </p:nvSpPr>
        <p:spPr>
          <a:xfrm>
            <a:off x="8622792" y="5111496"/>
            <a:ext cx="1645920" cy="310896"/>
          </a:xfrm>
          <a:prstGeom prst="rect">
            <a:avLst/>
          </a:prstGeom>
          <a:noFill/>
        </p:spPr>
        <p:txBody>
          <a:bodyPr wrap="none">
            <a:spAutoFit/>
          </a:bodyPr>
          <a:lstStyle/>
          <a:p>
            <a:r>
              <a:rPr b="1" sz="1900">
                <a:solidFill>
                  <a:srgbClr val="0D182E"/>
                </a:solidFill>
                <a:latin typeface="Arial"/>
              </a:rPr>
              <a:t>Hybrid QML</a:t>
            </a:r>
          </a:p>
        </p:txBody>
      </p:sp>
      <p:sp>
        <p:nvSpPr>
          <p:cNvPr id="24" name="TextBox 23"/>
          <p:cNvSpPr txBox="1"/>
          <p:nvPr/>
        </p:nvSpPr>
        <p:spPr>
          <a:xfrm>
            <a:off x="8622792" y="5440680"/>
            <a:ext cx="1645920" cy="164592"/>
          </a:xfrm>
          <a:prstGeom prst="rect">
            <a:avLst/>
          </a:prstGeom>
          <a:noFill/>
        </p:spPr>
        <p:txBody>
          <a:bodyPr wrap="none">
            <a:spAutoFit/>
          </a:bodyPr>
          <a:lstStyle/>
          <a:p>
            <a:r>
              <a:rPr sz="850">
                <a:solidFill>
                  <a:srgbClr val="586478"/>
                </a:solidFill>
                <a:latin typeface="Arial"/>
              </a:rPr>
              <a:t>Qiskit-based classifier comparison</a:t>
            </a:r>
          </a:p>
        </p:txBody>
      </p:sp>
      <p:sp>
        <p:nvSpPr>
          <p:cNvPr id="25" name="TextBox 24"/>
          <p:cNvSpPr txBox="1"/>
          <p:nvPr/>
        </p:nvSpPr>
        <p:spPr>
          <a:xfrm>
            <a:off x="11155680" y="6400800"/>
            <a:ext cx="640080" cy="182880"/>
          </a:xfrm>
          <a:prstGeom prst="rect">
            <a:avLst/>
          </a:prstGeom>
          <a:noFill/>
        </p:spPr>
        <p:txBody>
          <a:bodyPr wrap="none">
            <a:spAutoFit/>
          </a:bodyPr>
          <a:lstStyle/>
          <a:p>
            <a:pPr algn="r"/>
            <a:r>
              <a:rPr sz="1100">
                <a:solidFill>
                  <a:srgbClr val="FFFFFF"/>
                </a:solidFill>
                <a:latin typeface="Arial"/>
              </a:rPr>
              <a:t>1/15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INTRODUCTION</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2/15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Agenda and presentation context</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presentation positions the project as both a practical application and a QML research study.</a:t>
            </a:r>
          </a:p>
        </p:txBody>
      </p:sp>
      <p:sp>
        <p:nvSpPr>
          <p:cNvPr id="8" name="Rounded Rectangle 7"/>
          <p:cNvSpPr/>
          <p:nvPr/>
        </p:nvSpPr>
        <p:spPr>
          <a:xfrm>
            <a:off x="640080" y="1828800"/>
            <a:ext cx="5394960" cy="4206240"/>
          </a:xfrm>
          <a:prstGeom prst="roundRect">
            <a:avLst/>
          </a:prstGeom>
          <a:solidFill>
            <a:srgbClr val="EAF7F4"/>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008071"/>
                </a:solidFill>
                <a:latin typeface="Arial"/>
              </a:rPr>
              <a:t>Agenda</a:t>
            </a:r>
          </a:p>
        </p:txBody>
      </p:sp>
      <p:sp>
        <p:nvSpPr>
          <p:cNvPr id="10" name="TextBox 9"/>
          <p:cNvSpPr txBox="1"/>
          <p:nvPr/>
        </p:nvSpPr>
        <p:spPr>
          <a:xfrm>
            <a:off x="749808" y="2240280"/>
            <a:ext cx="5175504" cy="3730752"/>
          </a:xfrm>
          <a:prstGeom prst="rect">
            <a:avLst/>
          </a:prstGeom>
          <a:noFill/>
        </p:spPr>
        <p:txBody>
          <a:bodyPr wrap="square" lIns="101600" rIns="50800">
            <a:spAutoFit/>
          </a:bodyPr>
          <a:lstStyle/>
          <a:p>
            <a:pPr>
              <a:spcAft>
                <a:spcPts val="500"/>
              </a:spcAft>
              <a:defRPr sz="1700">
                <a:solidFill>
                  <a:srgbClr val="202A38"/>
                </a:solidFill>
                <a:latin typeface="Arial"/>
              </a:defRPr>
            </a:pPr>
            <a:r>
              <a:t>Project background and research objective</a:t>
            </a:r>
          </a:p>
          <a:p>
            <a:pPr>
              <a:spcAft>
                <a:spcPts val="500"/>
              </a:spcAft>
              <a:defRPr sz="1700">
                <a:solidFill>
                  <a:srgbClr val="202A38"/>
                </a:solidFill>
                <a:latin typeface="Arial"/>
              </a:defRPr>
            </a:pPr>
            <a:r>
              <a:t>System architecture and experimental workflow</a:t>
            </a:r>
          </a:p>
          <a:p>
            <a:pPr>
              <a:spcAft>
                <a:spcPts val="500"/>
              </a:spcAft>
              <a:defRPr sz="1700">
                <a:solidFill>
                  <a:srgbClr val="202A38"/>
                </a:solidFill>
                <a:latin typeface="Arial"/>
              </a:defRPr>
            </a:pPr>
            <a:r>
              <a:t>Methods, technologies, and QML approach</a:t>
            </a:r>
          </a:p>
          <a:p>
            <a:pPr>
              <a:spcAft>
                <a:spcPts val="500"/>
              </a:spcAft>
              <a:defRPr sz="1700">
                <a:solidFill>
                  <a:srgbClr val="202A38"/>
                </a:solidFill>
                <a:latin typeface="Arial"/>
              </a:defRPr>
            </a:pPr>
            <a:r>
              <a:t>Internship outcomes and benchmark findings</a:t>
            </a:r>
          </a:p>
          <a:p>
            <a:pPr>
              <a:spcAft>
                <a:spcPts val="500"/>
              </a:spcAft>
              <a:defRPr sz="1700">
                <a:solidFill>
                  <a:srgbClr val="202A38"/>
                </a:solidFill>
                <a:latin typeface="Arial"/>
              </a:defRPr>
            </a:pPr>
            <a:r>
              <a:t>Recommendation, conclusion, and future scope</a:t>
            </a:r>
          </a:p>
        </p:txBody>
      </p:sp>
      <p:sp>
        <p:nvSpPr>
          <p:cNvPr id="11" name="Rounded Rectangle 10"/>
          <p:cNvSpPr/>
          <p:nvPr/>
        </p:nvSpPr>
        <p:spPr>
          <a:xfrm>
            <a:off x="6217920" y="1828800"/>
            <a:ext cx="5349240" cy="420624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B48C36"/>
                </a:solidFill>
                <a:latin typeface="Arial"/>
              </a:rPr>
              <a:t>Presentation focus</a:t>
            </a:r>
          </a:p>
        </p:txBody>
      </p:sp>
      <p:sp>
        <p:nvSpPr>
          <p:cNvPr id="13" name="TextBox 12"/>
          <p:cNvSpPr txBox="1"/>
          <p:nvPr/>
        </p:nvSpPr>
        <p:spPr>
          <a:xfrm>
            <a:off x="6327648" y="2240280"/>
            <a:ext cx="5129784" cy="3730752"/>
          </a:xfrm>
          <a:prstGeom prst="rect">
            <a:avLst/>
          </a:prstGeom>
          <a:noFill/>
        </p:spPr>
        <p:txBody>
          <a:bodyPr wrap="square" lIns="101600" rIns="50800">
            <a:spAutoFit/>
          </a:bodyPr>
          <a:lstStyle/>
          <a:p>
            <a:pPr>
              <a:spcAft>
                <a:spcPts val="500"/>
              </a:spcAft>
              <a:defRPr sz="1700">
                <a:solidFill>
                  <a:srgbClr val="202A38"/>
                </a:solidFill>
                <a:latin typeface="Arial"/>
              </a:defRPr>
            </a:pPr>
            <a:r>
              <a:t>The project does not assume that quantum models are better by default.</a:t>
            </a:r>
          </a:p>
          <a:p>
            <a:pPr>
              <a:spcAft>
                <a:spcPts val="500"/>
              </a:spcAft>
              <a:defRPr sz="1700">
                <a:solidFill>
                  <a:srgbClr val="202A38"/>
                </a:solidFill>
                <a:latin typeface="Arial"/>
              </a:defRPr>
            </a:pPr>
            <a:r>
              <a:t>Instead, it evaluates classical and hybrid quantum models under the same pipeline and benchmark logic.</a:t>
            </a:r>
          </a:p>
          <a:p>
            <a:pPr>
              <a:spcAft>
                <a:spcPts val="500"/>
              </a:spcAft>
              <a:defRPr sz="1700">
                <a:solidFill>
                  <a:srgbClr val="202A38"/>
                </a:solidFill>
                <a:latin typeface="Arial"/>
              </a:defRPr>
            </a:pPr>
            <a:r>
              <a:t>The final recommendation is based on measured performance, training cost, and deployment practicality.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PROJECT PRESENTATION</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3/15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Project context and problem definition</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project is positioned as QML object-detection research and development, with three object classes used as the benchmark domain.</a:t>
            </a:r>
          </a:p>
        </p:txBody>
      </p:sp>
      <p:sp>
        <p:nvSpPr>
          <p:cNvPr id="8" name="Rounded Rectangle 7"/>
          <p:cNvSpPr/>
          <p:nvPr/>
        </p:nvSpPr>
        <p:spPr>
          <a:xfrm>
            <a:off x="640080" y="1828800"/>
            <a:ext cx="548640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212080" cy="228600"/>
          </a:xfrm>
          <a:prstGeom prst="rect">
            <a:avLst/>
          </a:prstGeom>
          <a:noFill/>
        </p:spPr>
        <p:txBody>
          <a:bodyPr wrap="none">
            <a:spAutoFit/>
          </a:bodyPr>
          <a:lstStyle/>
          <a:p>
            <a:r>
              <a:rPr b="1" sz="1400">
                <a:solidFill>
                  <a:srgbClr val="142444"/>
                </a:solidFill>
                <a:latin typeface="Arial"/>
              </a:rPr>
              <a:t>Research context</a:t>
            </a:r>
          </a:p>
        </p:txBody>
      </p:sp>
      <p:sp>
        <p:nvSpPr>
          <p:cNvPr id="10" name="TextBox 9"/>
          <p:cNvSpPr txBox="1"/>
          <p:nvPr/>
        </p:nvSpPr>
        <p:spPr>
          <a:xfrm>
            <a:off x="749808" y="2240280"/>
            <a:ext cx="5266944" cy="3822192"/>
          </a:xfrm>
          <a:prstGeom prst="rect">
            <a:avLst/>
          </a:prstGeom>
          <a:noFill/>
        </p:spPr>
        <p:txBody>
          <a:bodyPr wrap="square" lIns="101600" rIns="50800">
            <a:spAutoFit/>
          </a:bodyPr>
          <a:lstStyle/>
          <a:p>
            <a:pPr>
              <a:spcAft>
                <a:spcPts val="500"/>
              </a:spcAft>
              <a:defRPr sz="1700">
                <a:solidFill>
                  <a:srgbClr val="202A38"/>
                </a:solidFill>
                <a:latin typeface="Arial"/>
              </a:defRPr>
            </a:pPr>
            <a:r>
              <a:t>The main research problem is how to evaluate QML inside a realistic object-detection and classification workflow.</a:t>
            </a:r>
          </a:p>
          <a:p>
            <a:pPr>
              <a:spcAft>
                <a:spcPts val="500"/>
              </a:spcAft>
              <a:defRPr sz="1700">
                <a:solidFill>
                  <a:srgbClr val="202A38"/>
                </a:solidFill>
                <a:latin typeface="Arial"/>
              </a:defRPr>
            </a:pPr>
            <a:r>
              <a:t>Real object images contain clutter, reflections, scale variation, and partially visible text.</a:t>
            </a:r>
          </a:p>
          <a:p>
            <a:pPr>
              <a:spcAft>
                <a:spcPts val="500"/>
              </a:spcAft>
              <a:defRPr sz="1700">
                <a:solidFill>
                  <a:srgbClr val="202A38"/>
                </a:solidFill>
                <a:latin typeface="Arial"/>
              </a:defRPr>
            </a:pPr>
            <a:r>
              <a:t>This makes the task suitable for both applied computer vision and comparative QML research.</a:t>
            </a:r>
          </a:p>
        </p:txBody>
      </p:sp>
      <p:sp>
        <p:nvSpPr>
          <p:cNvPr id="11" name="Rounded Rectangle 10"/>
          <p:cNvSpPr/>
          <p:nvPr/>
        </p:nvSpPr>
        <p:spPr>
          <a:xfrm>
            <a:off x="6355080" y="1828800"/>
            <a:ext cx="5212080" cy="4297680"/>
          </a:xfrm>
          <a:prstGeom prst="roundRect">
            <a:avLst/>
          </a:prstGeom>
          <a:solidFill>
            <a:srgbClr val="EAF2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01952"/>
            <a:ext cx="4937760" cy="228600"/>
          </a:xfrm>
          <a:prstGeom prst="rect">
            <a:avLst/>
          </a:prstGeom>
          <a:noFill/>
        </p:spPr>
        <p:txBody>
          <a:bodyPr wrap="none">
            <a:spAutoFit/>
          </a:bodyPr>
          <a:lstStyle/>
          <a:p>
            <a:r>
              <a:rPr b="1" sz="1400">
                <a:solidFill>
                  <a:srgbClr val="008071"/>
                </a:solidFill>
                <a:latin typeface="Arial"/>
              </a:rPr>
              <a:t>Project objective</a:t>
            </a:r>
          </a:p>
        </p:txBody>
      </p:sp>
      <p:sp>
        <p:nvSpPr>
          <p:cNvPr id="13" name="TextBox 12"/>
          <p:cNvSpPr txBox="1"/>
          <p:nvPr/>
        </p:nvSpPr>
        <p:spPr>
          <a:xfrm>
            <a:off x="6464808" y="2240280"/>
            <a:ext cx="4992624" cy="3822192"/>
          </a:xfrm>
          <a:prstGeom prst="rect">
            <a:avLst/>
          </a:prstGeom>
          <a:noFill/>
        </p:spPr>
        <p:txBody>
          <a:bodyPr wrap="square" lIns="101600" rIns="50800">
            <a:spAutoFit/>
          </a:bodyPr>
          <a:lstStyle/>
          <a:p>
            <a:pPr>
              <a:spcAft>
                <a:spcPts val="500"/>
              </a:spcAft>
              <a:defRPr sz="1700">
                <a:solidFill>
                  <a:srgbClr val="202A38"/>
                </a:solidFill>
                <a:latin typeface="Arial"/>
              </a:defRPr>
            </a:pPr>
            <a:r>
              <a:t>Build a complete end-to-end pipeline for object detection, classification, and OCR.</a:t>
            </a:r>
          </a:p>
          <a:p>
            <a:pPr>
              <a:spcAft>
                <a:spcPts val="500"/>
              </a:spcAft>
              <a:defRPr sz="1700">
                <a:solidFill>
                  <a:srgbClr val="202A38"/>
                </a:solidFill>
                <a:latin typeface="Arial"/>
              </a:defRPr>
            </a:pPr>
            <a:r>
              <a:t>Use the pipeline as a controlled platform for classical versus hybrid quantum comparison.</a:t>
            </a:r>
          </a:p>
          <a:p>
            <a:pPr>
              <a:spcAft>
                <a:spcPts val="500"/>
              </a:spcAft>
              <a:defRPr sz="1700">
                <a:solidFill>
                  <a:srgbClr val="202A38"/>
                </a:solidFill>
                <a:latin typeface="Arial"/>
              </a:defRPr>
            </a:pPr>
            <a:r>
              <a:t>Treat the selected object classes as an experimental benchmark rather than the project definition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PROJECT PRESENTATION</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4/15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End-to-end system architecture</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architecture separates the application flow from the comparative QML evaluation layer.</a:t>
            </a:r>
          </a:p>
        </p:txBody>
      </p:sp>
      <p:sp>
        <p:nvSpPr>
          <p:cNvPr id="8" name="Rounded Rectangle 7"/>
          <p:cNvSpPr/>
          <p:nvPr/>
        </p:nvSpPr>
        <p:spPr>
          <a:xfrm>
            <a:off x="59436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468880"/>
            <a:ext cx="1417320" cy="91440"/>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97480"/>
            <a:ext cx="1325880" cy="457200"/>
          </a:xfrm>
          <a:prstGeom prst="rect">
            <a:avLst/>
          </a:prstGeom>
          <a:noFill/>
        </p:spPr>
        <p:txBody>
          <a:bodyPr wrap="none">
            <a:spAutoFit/>
          </a:bodyPr>
          <a:lstStyle/>
          <a:p>
            <a:pPr algn="ctr"/>
            <a:r>
              <a:rPr b="1" sz="1200">
                <a:solidFill>
                  <a:srgbClr val="202A38"/>
                </a:solidFill>
                <a:latin typeface="Arial"/>
              </a:rPr>
              <a:t>Input Image</a:t>
            </a:r>
          </a:p>
        </p:txBody>
      </p:sp>
      <p:cxnSp>
        <p:nvCxnSpPr>
          <p:cNvPr id="11" name="Connector 10"/>
          <p:cNvCxnSpPr/>
          <p:nvPr/>
        </p:nvCxnSpPr>
        <p:spPr>
          <a:xfrm>
            <a:off x="2011680" y="2926080"/>
            <a:ext cx="182880" cy="0"/>
          </a:xfrm>
          <a:prstGeom prst="line">
            <a:avLst/>
          </a:prstGeom>
          <a:ln w="25400">
            <a:solidFill>
              <a:srgbClr val="58647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1168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0" y="2468880"/>
            <a:ext cx="1417320" cy="91440"/>
          </a:xfrm>
          <a:prstGeom prst="rect">
            <a:avLst/>
          </a:prstGeom>
          <a:solidFill>
            <a:srgbClr val="008071"/>
          </a:solidFill>
          <a:ln>
            <a:solidFill>
              <a:srgbClr val="0080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57400" y="2697480"/>
            <a:ext cx="1325880" cy="457200"/>
          </a:xfrm>
          <a:prstGeom prst="rect">
            <a:avLst/>
          </a:prstGeom>
          <a:noFill/>
        </p:spPr>
        <p:txBody>
          <a:bodyPr wrap="none">
            <a:spAutoFit/>
          </a:bodyPr>
          <a:lstStyle/>
          <a:p>
            <a:pPr algn="ctr"/>
            <a:r>
              <a:rPr b="1" sz="1200">
                <a:solidFill>
                  <a:srgbClr val="202A38"/>
                </a:solidFill>
                <a:latin typeface="Arial"/>
              </a:rPr>
              <a:t>Preprocessing</a:t>
            </a:r>
          </a:p>
        </p:txBody>
      </p:sp>
      <p:cxnSp>
        <p:nvCxnSpPr>
          <p:cNvPr id="15" name="Connector 14"/>
          <p:cNvCxnSpPr/>
          <p:nvPr/>
        </p:nvCxnSpPr>
        <p:spPr>
          <a:xfrm>
            <a:off x="3429000" y="2926080"/>
            <a:ext cx="182880" cy="0"/>
          </a:xfrm>
          <a:prstGeom prst="line">
            <a:avLst/>
          </a:prstGeom>
          <a:ln w="25400">
            <a:solidFill>
              <a:srgbClr val="58647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52044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20440" y="2468880"/>
            <a:ext cx="1417320" cy="91440"/>
          </a:xfrm>
          <a:prstGeom prst="rect">
            <a:avLst/>
          </a:prstGeom>
          <a:solidFill>
            <a:srgbClr val="2271B3"/>
          </a:solidFill>
          <a:ln>
            <a:solidFill>
              <a:srgbClr val="2271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697480"/>
            <a:ext cx="1325880" cy="457200"/>
          </a:xfrm>
          <a:prstGeom prst="rect">
            <a:avLst/>
          </a:prstGeom>
          <a:noFill/>
        </p:spPr>
        <p:txBody>
          <a:bodyPr wrap="none">
            <a:spAutoFit/>
          </a:bodyPr>
          <a:lstStyle/>
          <a:p>
            <a:pPr algn="ctr"/>
            <a:r>
              <a:rPr b="1" sz="1200">
                <a:solidFill>
                  <a:srgbClr val="202A38"/>
                </a:solidFill>
                <a:latin typeface="Arial"/>
              </a:rPr>
              <a:t>YOLO Detection</a:t>
            </a:r>
          </a:p>
        </p:txBody>
      </p:sp>
      <p:cxnSp>
        <p:nvCxnSpPr>
          <p:cNvPr id="19" name="Connector 18"/>
          <p:cNvCxnSpPr/>
          <p:nvPr/>
        </p:nvCxnSpPr>
        <p:spPr>
          <a:xfrm>
            <a:off x="4937760" y="2926080"/>
            <a:ext cx="182880" cy="0"/>
          </a:xfrm>
          <a:prstGeom prst="line">
            <a:avLst/>
          </a:prstGeom>
          <a:ln w="25400">
            <a:solidFill>
              <a:srgbClr val="58647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0" y="2468880"/>
            <a:ext cx="1417320" cy="91440"/>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697480"/>
            <a:ext cx="1325880" cy="457200"/>
          </a:xfrm>
          <a:prstGeom prst="rect">
            <a:avLst/>
          </a:prstGeom>
          <a:noFill/>
        </p:spPr>
        <p:txBody>
          <a:bodyPr wrap="none">
            <a:spAutoFit/>
          </a:bodyPr>
          <a:lstStyle/>
          <a:p>
            <a:pPr algn="ctr"/>
            <a:r>
              <a:rPr b="1" sz="1200">
                <a:solidFill>
                  <a:srgbClr val="202A38"/>
                </a:solidFill>
                <a:latin typeface="Arial"/>
              </a:rPr>
              <a:t>ROI Extraction</a:t>
            </a:r>
          </a:p>
        </p:txBody>
      </p:sp>
      <p:cxnSp>
        <p:nvCxnSpPr>
          <p:cNvPr id="23" name="Connector 22"/>
          <p:cNvCxnSpPr/>
          <p:nvPr/>
        </p:nvCxnSpPr>
        <p:spPr>
          <a:xfrm>
            <a:off x="6446520" y="2926080"/>
            <a:ext cx="182880" cy="0"/>
          </a:xfrm>
          <a:prstGeom prst="line">
            <a:avLst/>
          </a:prstGeom>
          <a:ln w="25400">
            <a:solidFill>
              <a:srgbClr val="58647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53796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7960" y="2468880"/>
            <a:ext cx="1417320" cy="91440"/>
          </a:xfrm>
          <a:prstGeom prst="rect">
            <a:avLst/>
          </a:prstGeom>
          <a:solidFill>
            <a:srgbClr val="7A4DC4"/>
          </a:solidFill>
          <a:ln>
            <a:solidFill>
              <a:srgbClr val="7A4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697480"/>
            <a:ext cx="1325880" cy="457200"/>
          </a:xfrm>
          <a:prstGeom prst="rect">
            <a:avLst/>
          </a:prstGeom>
          <a:noFill/>
        </p:spPr>
        <p:txBody>
          <a:bodyPr wrap="none">
            <a:spAutoFit/>
          </a:bodyPr>
          <a:lstStyle/>
          <a:p>
            <a:pPr algn="ctr"/>
            <a:r>
              <a:rPr b="1" sz="1200">
                <a:solidFill>
                  <a:srgbClr val="202A38"/>
                </a:solidFill>
                <a:latin typeface="Arial"/>
              </a:rPr>
              <a:t>Classification</a:t>
            </a:r>
          </a:p>
        </p:txBody>
      </p:sp>
      <p:cxnSp>
        <p:nvCxnSpPr>
          <p:cNvPr id="27" name="Connector 26"/>
          <p:cNvCxnSpPr/>
          <p:nvPr/>
        </p:nvCxnSpPr>
        <p:spPr>
          <a:xfrm>
            <a:off x="7955280" y="2926080"/>
            <a:ext cx="182880" cy="0"/>
          </a:xfrm>
          <a:prstGeom prst="line">
            <a:avLst/>
          </a:prstGeom>
          <a:ln w="25400">
            <a:solidFill>
              <a:srgbClr val="58647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4672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2468880"/>
            <a:ext cx="1417320" cy="91440"/>
          </a:xfrm>
          <a:prstGeom prst="rect">
            <a:avLst/>
          </a:prstGeom>
          <a:solidFill>
            <a:srgbClr val="008071"/>
          </a:solidFill>
          <a:ln>
            <a:solidFill>
              <a:srgbClr val="0080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92440" y="2697480"/>
            <a:ext cx="1325880" cy="457200"/>
          </a:xfrm>
          <a:prstGeom prst="rect">
            <a:avLst/>
          </a:prstGeom>
          <a:noFill/>
        </p:spPr>
        <p:txBody>
          <a:bodyPr wrap="none">
            <a:spAutoFit/>
          </a:bodyPr>
          <a:lstStyle/>
          <a:p>
            <a:pPr algn="ctr"/>
            <a:r>
              <a:rPr b="1" sz="1200">
                <a:solidFill>
                  <a:srgbClr val="202A38"/>
                </a:solidFill>
                <a:latin typeface="Arial"/>
              </a:rPr>
              <a:t>OCR</a:t>
            </a:r>
          </a:p>
        </p:txBody>
      </p:sp>
      <p:cxnSp>
        <p:nvCxnSpPr>
          <p:cNvPr id="31" name="Connector 30"/>
          <p:cNvCxnSpPr/>
          <p:nvPr/>
        </p:nvCxnSpPr>
        <p:spPr>
          <a:xfrm>
            <a:off x="9464040" y="2926080"/>
            <a:ext cx="182880" cy="0"/>
          </a:xfrm>
          <a:prstGeom prst="line">
            <a:avLst/>
          </a:prstGeom>
          <a:ln w="25400">
            <a:solidFill>
              <a:srgbClr val="58647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55480" y="2468880"/>
            <a:ext cx="1417320" cy="932688"/>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55480" y="2468880"/>
            <a:ext cx="1417320" cy="91440"/>
          </a:xfrm>
          <a:prstGeom prst="rect">
            <a:avLst/>
          </a:prstGeom>
          <a:solidFill>
            <a:srgbClr val="0D182E"/>
          </a:solidFill>
          <a:ln>
            <a:solidFill>
              <a:srgbClr val="0D18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0" y="2697480"/>
            <a:ext cx="1325880" cy="457200"/>
          </a:xfrm>
          <a:prstGeom prst="rect">
            <a:avLst/>
          </a:prstGeom>
          <a:noFill/>
        </p:spPr>
        <p:txBody>
          <a:bodyPr wrap="none">
            <a:spAutoFit/>
          </a:bodyPr>
          <a:lstStyle/>
          <a:p>
            <a:pPr algn="ctr"/>
            <a:r>
              <a:rPr b="1" sz="1200">
                <a:solidFill>
                  <a:srgbClr val="202A38"/>
                </a:solidFill>
                <a:latin typeface="Arial"/>
              </a:rPr>
              <a:t>Final Output</a:t>
            </a:r>
          </a:p>
        </p:txBody>
      </p:sp>
      <p:sp>
        <p:nvSpPr>
          <p:cNvPr id="35" name="Rounded Rectangle 34"/>
          <p:cNvSpPr/>
          <p:nvPr/>
        </p:nvSpPr>
        <p:spPr>
          <a:xfrm>
            <a:off x="822960" y="4069080"/>
            <a:ext cx="10607040" cy="169164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4160520"/>
            <a:ext cx="10332720" cy="228600"/>
          </a:xfrm>
          <a:prstGeom prst="rect">
            <a:avLst/>
          </a:prstGeom>
          <a:noFill/>
        </p:spPr>
        <p:txBody>
          <a:bodyPr wrap="none">
            <a:spAutoFit/>
          </a:bodyPr>
          <a:lstStyle/>
          <a:p>
            <a:r>
              <a:rPr b="1" sz="1400">
                <a:solidFill>
                  <a:srgbClr val="142444"/>
                </a:solidFill>
                <a:latin typeface="Arial"/>
              </a:rPr>
              <a:t>Architecture interpretation</a:t>
            </a:r>
          </a:p>
        </p:txBody>
      </p:sp>
      <p:sp>
        <p:nvSpPr>
          <p:cNvPr id="37" name="TextBox 36"/>
          <p:cNvSpPr txBox="1"/>
          <p:nvPr/>
        </p:nvSpPr>
        <p:spPr>
          <a:xfrm>
            <a:off x="960120" y="4453128"/>
            <a:ext cx="10332720" cy="1216152"/>
          </a:xfrm>
          <a:prstGeom prst="rect">
            <a:avLst/>
          </a:prstGeom>
          <a:noFill/>
        </p:spPr>
        <p:txBody>
          <a:bodyPr wrap="square">
            <a:spAutoFit/>
          </a:bodyPr>
          <a:lstStyle/>
          <a:p>
            <a:pPr>
              <a:defRPr sz="1400">
                <a:solidFill>
                  <a:srgbClr val="202A38"/>
                </a:solidFill>
                <a:latin typeface="Arial"/>
              </a:defRPr>
            </a:pPr>
            <a:r>
              <a:t>OpenCV enhances the input, YOLO localizes the object, the ROI is classified by both classical and hybrid quantum models, and OCR extracts text from the same detected object. This architecture allows a fair classifier comparison without changing the front-end computer-vision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PROJECT PRESENTATION</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5/15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Experimental workflow and user interface</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UI turns the project into a repeatable benchmark environment rather than a one-time code demo.</a:t>
            </a:r>
          </a:p>
        </p:txBody>
      </p:sp>
      <p:sp>
        <p:nvSpPr>
          <p:cNvPr id="8" name="Rounded Rectangle 7"/>
          <p:cNvSpPr/>
          <p:nvPr/>
        </p:nvSpPr>
        <p:spPr>
          <a:xfrm>
            <a:off x="640080" y="1828800"/>
            <a:ext cx="539496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2271B3"/>
                </a:solidFill>
                <a:latin typeface="Arial"/>
              </a:rPr>
              <a:t>UI workflow</a:t>
            </a:r>
          </a:p>
        </p:txBody>
      </p:sp>
      <p:sp>
        <p:nvSpPr>
          <p:cNvPr id="10" name="TextBox 9"/>
          <p:cNvSpPr txBox="1"/>
          <p:nvPr/>
        </p:nvSpPr>
        <p:spPr>
          <a:xfrm>
            <a:off x="749808" y="2240280"/>
            <a:ext cx="5175504" cy="3822192"/>
          </a:xfrm>
          <a:prstGeom prst="rect">
            <a:avLst/>
          </a:prstGeom>
          <a:noFill/>
        </p:spPr>
        <p:txBody>
          <a:bodyPr wrap="square" lIns="101600" rIns="50800">
            <a:spAutoFit/>
          </a:bodyPr>
          <a:lstStyle/>
          <a:p>
            <a:pPr>
              <a:spcAft>
                <a:spcPts val="500"/>
              </a:spcAft>
              <a:defRPr sz="1600">
                <a:solidFill>
                  <a:srgbClr val="202A38"/>
                </a:solidFill>
                <a:latin typeface="Arial"/>
              </a:defRPr>
            </a:pPr>
            <a:r>
              <a:t>Train detector and ROI classifiers directly from the interface.</a:t>
            </a:r>
          </a:p>
          <a:p>
            <a:pPr>
              <a:spcAft>
                <a:spcPts val="500"/>
              </a:spcAft>
              <a:defRPr sz="1600">
                <a:solidFill>
                  <a:srgbClr val="202A38"/>
                </a:solidFill>
                <a:latin typeface="Arial"/>
              </a:defRPr>
            </a:pPr>
            <a:r>
              <a:t>Reuse saved artifacts instead of retraining models repeatedly.</a:t>
            </a:r>
          </a:p>
          <a:p>
            <a:pPr>
              <a:spcAft>
                <a:spcPts val="500"/>
              </a:spcAft>
              <a:defRPr sz="1600">
                <a:solidFill>
                  <a:srgbClr val="202A38"/>
                </a:solidFill>
                <a:latin typeface="Arial"/>
              </a:defRPr>
            </a:pPr>
            <a:r>
              <a:t>Generate benchmark reports and compare all supported models.</a:t>
            </a:r>
          </a:p>
          <a:p>
            <a:pPr>
              <a:spcAft>
                <a:spcPts val="500"/>
              </a:spcAft>
              <a:defRPr sz="1600">
                <a:solidFill>
                  <a:srgbClr val="202A38"/>
                </a:solidFill>
                <a:latin typeface="Arial"/>
              </a:defRPr>
            </a:pPr>
            <a:r>
              <a:t>Run full-scene inference and ROI-only inference from the same application.</a:t>
            </a:r>
          </a:p>
        </p:txBody>
      </p:sp>
      <p:sp>
        <p:nvSpPr>
          <p:cNvPr id="11" name="Rounded Rectangle 10"/>
          <p:cNvSpPr/>
          <p:nvPr/>
        </p:nvSpPr>
        <p:spPr>
          <a:xfrm>
            <a:off x="6217920" y="1828800"/>
            <a:ext cx="5349240" cy="4297680"/>
          </a:xfrm>
          <a:prstGeom prst="roundRect">
            <a:avLst/>
          </a:prstGeom>
          <a:solidFill>
            <a:srgbClr val="F1EC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7A4DC4"/>
                </a:solidFill>
                <a:latin typeface="Arial"/>
              </a:rPr>
              <a:t>Research value</a:t>
            </a:r>
          </a:p>
        </p:txBody>
      </p:sp>
      <p:sp>
        <p:nvSpPr>
          <p:cNvPr id="13" name="TextBox 12"/>
          <p:cNvSpPr txBox="1"/>
          <p:nvPr/>
        </p:nvSpPr>
        <p:spPr>
          <a:xfrm>
            <a:off x="6327648" y="2240280"/>
            <a:ext cx="5129784" cy="3822192"/>
          </a:xfrm>
          <a:prstGeom prst="rect">
            <a:avLst/>
          </a:prstGeom>
          <a:noFill/>
        </p:spPr>
        <p:txBody>
          <a:bodyPr wrap="square" lIns="101600" rIns="50800">
            <a:spAutoFit/>
          </a:bodyPr>
          <a:lstStyle/>
          <a:p>
            <a:pPr>
              <a:spcAft>
                <a:spcPts val="500"/>
              </a:spcAft>
              <a:defRPr sz="1600">
                <a:solidFill>
                  <a:srgbClr val="202A38"/>
                </a:solidFill>
                <a:latin typeface="Arial"/>
              </a:defRPr>
            </a:pPr>
            <a:r>
              <a:t>The UI standardizes training, benchmarking, and inference for fairer evaluation.</a:t>
            </a:r>
          </a:p>
          <a:p>
            <a:pPr>
              <a:spcAft>
                <a:spcPts val="500"/>
              </a:spcAft>
              <a:defRPr sz="1600">
                <a:solidFill>
                  <a:srgbClr val="202A38"/>
                </a:solidFill>
                <a:latin typeface="Arial"/>
              </a:defRPr>
            </a:pPr>
            <a:r>
              <a:t>Charts, tables, and saved outputs make the results presentation-ready.</a:t>
            </a:r>
          </a:p>
          <a:p>
            <a:pPr>
              <a:spcAft>
                <a:spcPts val="500"/>
              </a:spcAft>
              <a:defRPr sz="1600">
                <a:solidFill>
                  <a:srgbClr val="202A38"/>
                </a:solidFill>
                <a:latin typeface="Arial"/>
              </a:defRPr>
            </a:pPr>
            <a:r>
              <a:t>The workflow supports both engineering demonstration and QML experimentation.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PROJECT PRESENTATION</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6/15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Dataset design and evaluation setup</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Detection and classification were trained on separate datasets so each research question could be measured correctly.</a:t>
            </a:r>
          </a:p>
        </p:txBody>
      </p:sp>
      <p:sp>
        <p:nvSpPr>
          <p:cNvPr id="8" name="Rounded Rectangle 7"/>
          <p:cNvSpPr/>
          <p:nvPr/>
        </p:nvSpPr>
        <p:spPr>
          <a:xfrm>
            <a:off x="640080" y="1828800"/>
            <a:ext cx="5394960" cy="39319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2271B3"/>
                </a:solidFill>
                <a:latin typeface="Arial"/>
              </a:rPr>
              <a:t>Detection dataset</a:t>
            </a:r>
          </a:p>
        </p:txBody>
      </p:sp>
      <p:sp>
        <p:nvSpPr>
          <p:cNvPr id="10" name="TextBox 9"/>
          <p:cNvSpPr txBox="1"/>
          <p:nvPr/>
        </p:nvSpPr>
        <p:spPr>
          <a:xfrm>
            <a:off x="749808" y="2240280"/>
            <a:ext cx="5175504" cy="3456432"/>
          </a:xfrm>
          <a:prstGeom prst="rect">
            <a:avLst/>
          </a:prstGeom>
          <a:noFill/>
        </p:spPr>
        <p:txBody>
          <a:bodyPr wrap="square" lIns="101600" rIns="50800">
            <a:spAutoFit/>
          </a:bodyPr>
          <a:lstStyle/>
          <a:p>
            <a:pPr>
              <a:spcAft>
                <a:spcPts val="500"/>
              </a:spcAft>
              <a:defRPr sz="1600">
                <a:solidFill>
                  <a:srgbClr val="202A38"/>
                </a:solidFill>
                <a:latin typeface="Arial"/>
              </a:defRPr>
            </a:pPr>
            <a:r>
              <a:t>YOLO-style full-scene images with train and validation splits.</a:t>
            </a:r>
          </a:p>
          <a:p>
            <a:pPr>
              <a:spcAft>
                <a:spcPts val="500"/>
              </a:spcAft>
              <a:defRPr sz="1600">
                <a:solidFill>
                  <a:srgbClr val="202A38"/>
                </a:solidFill>
                <a:latin typeface="Arial"/>
              </a:defRPr>
            </a:pPr>
            <a:r>
              <a:t>Bounding boxes stored in standard YOLO text format.</a:t>
            </a:r>
          </a:p>
          <a:p>
            <a:pPr>
              <a:spcAft>
                <a:spcPts val="500"/>
              </a:spcAft>
              <a:defRPr sz="1600">
                <a:solidFill>
                  <a:srgbClr val="202A38"/>
                </a:solidFill>
                <a:latin typeface="Arial"/>
              </a:defRPr>
            </a:pPr>
            <a:r>
              <a:t>Supports realistic scene-level testing for localization and cropping.</a:t>
            </a:r>
          </a:p>
        </p:txBody>
      </p:sp>
      <p:sp>
        <p:nvSpPr>
          <p:cNvPr id="11" name="Rounded Rectangle 10"/>
          <p:cNvSpPr/>
          <p:nvPr/>
        </p:nvSpPr>
        <p:spPr>
          <a:xfrm>
            <a:off x="6217920" y="1828800"/>
            <a:ext cx="5349240" cy="39319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7A4DC4"/>
                </a:solidFill>
                <a:latin typeface="Arial"/>
              </a:rPr>
              <a:t>ROI classifier dataset</a:t>
            </a:r>
          </a:p>
        </p:txBody>
      </p:sp>
      <p:sp>
        <p:nvSpPr>
          <p:cNvPr id="13" name="TextBox 12"/>
          <p:cNvSpPr txBox="1"/>
          <p:nvPr/>
        </p:nvSpPr>
        <p:spPr>
          <a:xfrm>
            <a:off x="6327648" y="2240280"/>
            <a:ext cx="5129784" cy="3456432"/>
          </a:xfrm>
          <a:prstGeom prst="rect">
            <a:avLst/>
          </a:prstGeom>
          <a:noFill/>
        </p:spPr>
        <p:txBody>
          <a:bodyPr wrap="square" lIns="101600" rIns="50800">
            <a:spAutoFit/>
          </a:bodyPr>
          <a:lstStyle/>
          <a:p>
            <a:pPr>
              <a:spcAft>
                <a:spcPts val="500"/>
              </a:spcAft>
              <a:defRPr sz="1600">
                <a:solidFill>
                  <a:srgbClr val="202A38"/>
                </a:solidFill>
                <a:latin typeface="Arial"/>
              </a:defRPr>
            </a:pPr>
            <a:r>
              <a:t>Cropped object images organized by class.</a:t>
            </a:r>
          </a:p>
          <a:p>
            <a:pPr>
              <a:spcAft>
                <a:spcPts val="500"/>
              </a:spcAft>
              <a:defRPr sz="1600">
                <a:solidFill>
                  <a:srgbClr val="202A38"/>
                </a:solidFill>
                <a:latin typeface="Arial"/>
              </a:defRPr>
            </a:pPr>
            <a:r>
              <a:t>Supports controlled feature extraction and fair classifier comparison.</a:t>
            </a:r>
          </a:p>
          <a:p>
            <a:pPr>
              <a:spcAft>
                <a:spcPts val="500"/>
              </a:spcAft>
              <a:defRPr sz="1600">
                <a:solidFill>
                  <a:srgbClr val="202A38"/>
                </a:solidFill>
                <a:latin typeface="Arial"/>
              </a:defRPr>
            </a:pPr>
            <a:r>
              <a:t>Balanced training and augmentation were used before model evaluation.</a:t>
            </a:r>
          </a:p>
        </p:txBody>
      </p:sp>
      <p:sp>
        <p:nvSpPr>
          <p:cNvPr id="14" name="Rounded Rectangle 13"/>
          <p:cNvSpPr/>
          <p:nvPr/>
        </p:nvSpPr>
        <p:spPr>
          <a:xfrm>
            <a:off x="914400" y="54864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486400"/>
            <a:ext cx="91440" cy="960120"/>
          </a:xfrm>
          <a:prstGeom prst="rect">
            <a:avLst/>
          </a:prstGeom>
          <a:solidFill>
            <a:srgbClr val="008071"/>
          </a:solidFill>
          <a:ln>
            <a:solidFill>
              <a:srgbClr val="0080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5596128"/>
            <a:ext cx="1645920" cy="182880"/>
          </a:xfrm>
          <a:prstGeom prst="rect">
            <a:avLst/>
          </a:prstGeom>
          <a:noFill/>
        </p:spPr>
        <p:txBody>
          <a:bodyPr wrap="none">
            <a:spAutoFit/>
          </a:bodyPr>
          <a:lstStyle/>
          <a:p>
            <a:r>
              <a:rPr sz="1000">
                <a:solidFill>
                  <a:srgbClr val="586478"/>
                </a:solidFill>
                <a:latin typeface="Arial"/>
              </a:rPr>
              <a:t>ROI Samples</a:t>
            </a:r>
          </a:p>
        </p:txBody>
      </p:sp>
      <p:sp>
        <p:nvSpPr>
          <p:cNvPr id="17" name="TextBox 16"/>
          <p:cNvSpPr txBox="1"/>
          <p:nvPr/>
        </p:nvSpPr>
        <p:spPr>
          <a:xfrm>
            <a:off x="1078992" y="5797296"/>
            <a:ext cx="1645920" cy="310896"/>
          </a:xfrm>
          <a:prstGeom prst="rect">
            <a:avLst/>
          </a:prstGeom>
          <a:noFill/>
        </p:spPr>
        <p:txBody>
          <a:bodyPr wrap="none">
            <a:spAutoFit/>
          </a:bodyPr>
          <a:lstStyle/>
          <a:p>
            <a:r>
              <a:rPr b="1" sz="1900">
                <a:solidFill>
                  <a:srgbClr val="0D182E"/>
                </a:solidFill>
                <a:latin typeface="Arial"/>
              </a:rPr>
              <a:t>997</a:t>
            </a:r>
          </a:p>
        </p:txBody>
      </p:sp>
      <p:sp>
        <p:nvSpPr>
          <p:cNvPr id="18" name="TextBox 17"/>
          <p:cNvSpPr txBox="1"/>
          <p:nvPr/>
        </p:nvSpPr>
        <p:spPr>
          <a:xfrm>
            <a:off x="1078992" y="6126480"/>
            <a:ext cx="1645920" cy="164592"/>
          </a:xfrm>
          <a:prstGeom prst="rect">
            <a:avLst/>
          </a:prstGeom>
          <a:noFill/>
        </p:spPr>
        <p:txBody>
          <a:bodyPr wrap="none">
            <a:spAutoFit/>
          </a:bodyPr>
          <a:lstStyle/>
          <a:p>
            <a:r>
              <a:rPr sz="850">
                <a:solidFill>
                  <a:srgbClr val="586478"/>
                </a:solidFill>
                <a:latin typeface="Arial"/>
              </a:rPr>
              <a:t>Classifier dataset size</a:t>
            </a:r>
          </a:p>
        </p:txBody>
      </p:sp>
      <p:sp>
        <p:nvSpPr>
          <p:cNvPr id="19" name="Rounded Rectangle 18"/>
          <p:cNvSpPr/>
          <p:nvPr/>
        </p:nvSpPr>
        <p:spPr>
          <a:xfrm>
            <a:off x="3154680" y="54864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54680" y="5486400"/>
            <a:ext cx="91440" cy="960120"/>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9272" y="5596128"/>
            <a:ext cx="1645920" cy="182880"/>
          </a:xfrm>
          <a:prstGeom prst="rect">
            <a:avLst/>
          </a:prstGeom>
          <a:noFill/>
        </p:spPr>
        <p:txBody>
          <a:bodyPr wrap="none">
            <a:spAutoFit/>
          </a:bodyPr>
          <a:lstStyle/>
          <a:p>
            <a:r>
              <a:rPr sz="1000">
                <a:solidFill>
                  <a:srgbClr val="586478"/>
                </a:solidFill>
                <a:latin typeface="Arial"/>
              </a:rPr>
              <a:t>Test Samples</a:t>
            </a:r>
          </a:p>
        </p:txBody>
      </p:sp>
      <p:sp>
        <p:nvSpPr>
          <p:cNvPr id="22" name="TextBox 21"/>
          <p:cNvSpPr txBox="1"/>
          <p:nvPr/>
        </p:nvSpPr>
        <p:spPr>
          <a:xfrm>
            <a:off x="3319272" y="5797296"/>
            <a:ext cx="1645920" cy="310896"/>
          </a:xfrm>
          <a:prstGeom prst="rect">
            <a:avLst/>
          </a:prstGeom>
          <a:noFill/>
        </p:spPr>
        <p:txBody>
          <a:bodyPr wrap="none">
            <a:spAutoFit/>
          </a:bodyPr>
          <a:lstStyle/>
          <a:p>
            <a:r>
              <a:rPr b="1" sz="1900">
                <a:solidFill>
                  <a:srgbClr val="0D182E"/>
                </a:solidFill>
                <a:latin typeface="Arial"/>
              </a:rPr>
              <a:t>200</a:t>
            </a:r>
          </a:p>
        </p:txBody>
      </p:sp>
      <p:sp>
        <p:nvSpPr>
          <p:cNvPr id="23" name="TextBox 22"/>
          <p:cNvSpPr txBox="1"/>
          <p:nvPr/>
        </p:nvSpPr>
        <p:spPr>
          <a:xfrm>
            <a:off x="3319272" y="6126480"/>
            <a:ext cx="1645920" cy="164592"/>
          </a:xfrm>
          <a:prstGeom prst="rect">
            <a:avLst/>
          </a:prstGeom>
          <a:noFill/>
        </p:spPr>
        <p:txBody>
          <a:bodyPr wrap="none">
            <a:spAutoFit/>
          </a:bodyPr>
          <a:lstStyle/>
          <a:p>
            <a:r>
              <a:rPr sz="850">
                <a:solidFill>
                  <a:srgbClr val="586478"/>
                </a:solidFill>
                <a:latin typeface="Arial"/>
              </a:rPr>
              <a:t>Held-out ROI benchmark</a:t>
            </a:r>
          </a:p>
        </p:txBody>
      </p:sp>
      <p:sp>
        <p:nvSpPr>
          <p:cNvPr id="24" name="Rounded Rectangle 23"/>
          <p:cNvSpPr/>
          <p:nvPr/>
        </p:nvSpPr>
        <p:spPr>
          <a:xfrm>
            <a:off x="5394960" y="54864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94960" y="5486400"/>
            <a:ext cx="91440" cy="960120"/>
          </a:xfrm>
          <a:prstGeom prst="rect">
            <a:avLst/>
          </a:prstGeom>
          <a:solidFill>
            <a:srgbClr val="2271B3"/>
          </a:solidFill>
          <a:ln>
            <a:solidFill>
              <a:srgbClr val="2271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59552" y="5596128"/>
            <a:ext cx="1645920" cy="182880"/>
          </a:xfrm>
          <a:prstGeom prst="rect">
            <a:avLst/>
          </a:prstGeom>
          <a:noFill/>
        </p:spPr>
        <p:txBody>
          <a:bodyPr wrap="none">
            <a:spAutoFit/>
          </a:bodyPr>
          <a:lstStyle/>
          <a:p>
            <a:r>
              <a:rPr sz="1000">
                <a:solidFill>
                  <a:srgbClr val="586478"/>
                </a:solidFill>
                <a:latin typeface="Arial"/>
              </a:rPr>
              <a:t>Balanced Train</a:t>
            </a:r>
          </a:p>
        </p:txBody>
      </p:sp>
      <p:sp>
        <p:nvSpPr>
          <p:cNvPr id="27" name="TextBox 26"/>
          <p:cNvSpPr txBox="1"/>
          <p:nvPr/>
        </p:nvSpPr>
        <p:spPr>
          <a:xfrm>
            <a:off x="5559552" y="5797296"/>
            <a:ext cx="1645920" cy="310896"/>
          </a:xfrm>
          <a:prstGeom prst="rect">
            <a:avLst/>
          </a:prstGeom>
          <a:noFill/>
        </p:spPr>
        <p:txBody>
          <a:bodyPr wrap="none">
            <a:spAutoFit/>
          </a:bodyPr>
          <a:lstStyle/>
          <a:p>
            <a:r>
              <a:rPr b="1" sz="1900">
                <a:solidFill>
                  <a:srgbClr val="0D182E"/>
                </a:solidFill>
                <a:latin typeface="Arial"/>
              </a:rPr>
              <a:t>1047</a:t>
            </a:r>
          </a:p>
        </p:txBody>
      </p:sp>
      <p:sp>
        <p:nvSpPr>
          <p:cNvPr id="28" name="TextBox 27"/>
          <p:cNvSpPr txBox="1"/>
          <p:nvPr/>
        </p:nvSpPr>
        <p:spPr>
          <a:xfrm>
            <a:off x="5559552" y="6126480"/>
            <a:ext cx="1645920" cy="164592"/>
          </a:xfrm>
          <a:prstGeom prst="rect">
            <a:avLst/>
          </a:prstGeom>
          <a:noFill/>
        </p:spPr>
        <p:txBody>
          <a:bodyPr wrap="none">
            <a:spAutoFit/>
          </a:bodyPr>
          <a:lstStyle/>
          <a:p>
            <a:r>
              <a:rPr sz="850">
                <a:solidFill>
                  <a:srgbClr val="586478"/>
                </a:solidFill>
                <a:latin typeface="Arial"/>
              </a:rPr>
              <a:t>Post-augmentation</a:t>
            </a:r>
          </a:p>
        </p:txBody>
      </p:sp>
      <p:sp>
        <p:nvSpPr>
          <p:cNvPr id="29" name="Rounded Rectangle 28"/>
          <p:cNvSpPr/>
          <p:nvPr/>
        </p:nvSpPr>
        <p:spPr>
          <a:xfrm>
            <a:off x="7635240" y="54864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35240" y="5486400"/>
            <a:ext cx="91440" cy="960120"/>
          </a:xfrm>
          <a:prstGeom prst="rect">
            <a:avLst/>
          </a:prstGeom>
          <a:solidFill>
            <a:srgbClr val="7A4DC4"/>
          </a:solidFill>
          <a:ln>
            <a:solidFill>
              <a:srgbClr val="7A4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99832" y="5596128"/>
            <a:ext cx="1645920" cy="182880"/>
          </a:xfrm>
          <a:prstGeom prst="rect">
            <a:avLst/>
          </a:prstGeom>
          <a:noFill/>
        </p:spPr>
        <p:txBody>
          <a:bodyPr wrap="none">
            <a:spAutoFit/>
          </a:bodyPr>
          <a:lstStyle/>
          <a:p>
            <a:r>
              <a:rPr sz="1000">
                <a:solidFill>
                  <a:srgbClr val="586478"/>
                </a:solidFill>
                <a:latin typeface="Arial"/>
              </a:rPr>
              <a:t>Objects</a:t>
            </a:r>
          </a:p>
        </p:txBody>
      </p:sp>
      <p:sp>
        <p:nvSpPr>
          <p:cNvPr id="32" name="TextBox 31"/>
          <p:cNvSpPr txBox="1"/>
          <p:nvPr/>
        </p:nvSpPr>
        <p:spPr>
          <a:xfrm>
            <a:off x="7799832" y="5797296"/>
            <a:ext cx="1645920" cy="310896"/>
          </a:xfrm>
          <a:prstGeom prst="rect">
            <a:avLst/>
          </a:prstGeom>
          <a:noFill/>
        </p:spPr>
        <p:txBody>
          <a:bodyPr wrap="none">
            <a:spAutoFit/>
          </a:bodyPr>
          <a:lstStyle/>
          <a:p>
            <a:r>
              <a:rPr b="1" sz="1900">
                <a:solidFill>
                  <a:srgbClr val="0D182E"/>
                </a:solidFill>
                <a:latin typeface="Arial"/>
              </a:rPr>
              <a:t>3</a:t>
            </a:r>
          </a:p>
        </p:txBody>
      </p:sp>
      <p:sp>
        <p:nvSpPr>
          <p:cNvPr id="33" name="TextBox 32"/>
          <p:cNvSpPr txBox="1"/>
          <p:nvPr/>
        </p:nvSpPr>
        <p:spPr>
          <a:xfrm>
            <a:off x="7799832" y="6126480"/>
            <a:ext cx="1645920" cy="164592"/>
          </a:xfrm>
          <a:prstGeom prst="rect">
            <a:avLst/>
          </a:prstGeom>
          <a:noFill/>
        </p:spPr>
        <p:txBody>
          <a:bodyPr wrap="none">
            <a:spAutoFit/>
          </a:bodyPr>
          <a:lstStyle/>
          <a:p>
            <a:r>
              <a:rPr sz="850">
                <a:solidFill>
                  <a:srgbClr val="586478"/>
                </a:solidFill>
                <a:latin typeface="Arial"/>
              </a:rPr>
              <a:t>Benchmark object categories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METHODS AND TECHNOLOGY</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7/15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Pipeline methods and implementation blocks</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project combines standard vision methods with QML-specific classifier experiments.</a:t>
            </a:r>
          </a:p>
        </p:txBody>
      </p:sp>
      <p:sp>
        <p:nvSpPr>
          <p:cNvPr id="8" name="Rounded Rectangle 7"/>
          <p:cNvSpPr/>
          <p:nvPr/>
        </p:nvSpPr>
        <p:spPr>
          <a:xfrm>
            <a:off x="640080" y="1828800"/>
            <a:ext cx="539496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2271B3"/>
                </a:solidFill>
                <a:latin typeface="Arial"/>
              </a:rPr>
              <a:t>Vision and OCR methods</a:t>
            </a:r>
          </a:p>
        </p:txBody>
      </p:sp>
      <p:sp>
        <p:nvSpPr>
          <p:cNvPr id="10" name="TextBox 9"/>
          <p:cNvSpPr txBox="1"/>
          <p:nvPr/>
        </p:nvSpPr>
        <p:spPr>
          <a:xfrm>
            <a:off x="749808" y="2240280"/>
            <a:ext cx="5175504" cy="3822192"/>
          </a:xfrm>
          <a:prstGeom prst="rect">
            <a:avLst/>
          </a:prstGeom>
          <a:noFill/>
        </p:spPr>
        <p:txBody>
          <a:bodyPr wrap="square" lIns="101600" rIns="50800">
            <a:spAutoFit/>
          </a:bodyPr>
          <a:lstStyle/>
          <a:p>
            <a:pPr>
              <a:spcAft>
                <a:spcPts val="500"/>
              </a:spcAft>
              <a:defRPr sz="1600">
                <a:solidFill>
                  <a:srgbClr val="202A38"/>
                </a:solidFill>
                <a:latin typeface="Arial"/>
              </a:defRPr>
            </a:pPr>
            <a:r>
              <a:t>Noise reduction, contrast enhancement, and binarization using OpenCV.</a:t>
            </a:r>
          </a:p>
          <a:p>
            <a:pPr>
              <a:spcAft>
                <a:spcPts val="500"/>
              </a:spcAft>
              <a:defRPr sz="1600">
                <a:solidFill>
                  <a:srgbClr val="202A38"/>
                </a:solidFill>
                <a:latin typeface="Arial"/>
              </a:defRPr>
            </a:pPr>
            <a:r>
              <a:t>YOLO-based detector for object localization.</a:t>
            </a:r>
          </a:p>
          <a:p>
            <a:pPr>
              <a:spcAft>
                <a:spcPts val="500"/>
              </a:spcAft>
              <a:defRPr sz="1600">
                <a:solidFill>
                  <a:srgbClr val="202A38"/>
                </a:solidFill>
                <a:latin typeface="Arial"/>
              </a:defRPr>
            </a:pPr>
            <a:r>
              <a:t>ROI extraction with controlled padding after detection.</a:t>
            </a:r>
          </a:p>
          <a:p>
            <a:pPr>
              <a:spcAft>
                <a:spcPts val="500"/>
              </a:spcAft>
              <a:defRPr sz="1600">
                <a:solidFill>
                  <a:srgbClr val="202A38"/>
                </a:solidFill>
                <a:latin typeface="Arial"/>
              </a:defRPr>
            </a:pPr>
            <a:r>
              <a:t>OCR ensemble using Tesseract and TrOCR.</a:t>
            </a:r>
          </a:p>
        </p:txBody>
      </p:sp>
      <p:sp>
        <p:nvSpPr>
          <p:cNvPr id="11" name="Rounded Rectangle 10"/>
          <p:cNvSpPr/>
          <p:nvPr/>
        </p:nvSpPr>
        <p:spPr>
          <a:xfrm>
            <a:off x="6217920" y="1828800"/>
            <a:ext cx="534924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7A4DC4"/>
                </a:solidFill>
                <a:latin typeface="Arial"/>
              </a:rPr>
              <a:t>Classifier methods</a:t>
            </a:r>
          </a:p>
        </p:txBody>
      </p:sp>
      <p:sp>
        <p:nvSpPr>
          <p:cNvPr id="13" name="TextBox 12"/>
          <p:cNvSpPr txBox="1"/>
          <p:nvPr/>
        </p:nvSpPr>
        <p:spPr>
          <a:xfrm>
            <a:off x="6327648" y="2240280"/>
            <a:ext cx="5129784" cy="3822192"/>
          </a:xfrm>
          <a:prstGeom prst="rect">
            <a:avLst/>
          </a:prstGeom>
          <a:noFill/>
        </p:spPr>
        <p:txBody>
          <a:bodyPr wrap="square" lIns="101600" rIns="50800">
            <a:spAutoFit/>
          </a:bodyPr>
          <a:lstStyle/>
          <a:p>
            <a:pPr>
              <a:spcAft>
                <a:spcPts val="500"/>
              </a:spcAft>
              <a:defRPr sz="1600">
                <a:solidFill>
                  <a:srgbClr val="202A38"/>
                </a:solidFill>
                <a:latin typeface="Arial"/>
              </a:defRPr>
            </a:pPr>
            <a:r>
              <a:t>Classical feature extraction from ROI images.</a:t>
            </a:r>
          </a:p>
          <a:p>
            <a:pPr>
              <a:spcAft>
                <a:spcPts val="500"/>
              </a:spcAft>
              <a:defRPr sz="1600">
                <a:solidFill>
                  <a:srgbClr val="202A38"/>
                </a:solidFill>
                <a:latin typeface="Arial"/>
              </a:defRPr>
            </a:pPr>
            <a:r>
              <a:t>Classical baselines: SVM, Logistic Regression, Random Forest, and MLP.</a:t>
            </a:r>
          </a:p>
          <a:p>
            <a:pPr>
              <a:spcAft>
                <a:spcPts val="500"/>
              </a:spcAft>
              <a:defRPr sz="1600">
                <a:solidFill>
                  <a:srgbClr val="202A38"/>
                </a:solidFill>
                <a:latin typeface="Arial"/>
              </a:defRPr>
            </a:pPr>
            <a:r>
              <a:t>Quantum-oriented models: QSVM variants and VQC variants implemented with Qiskit.</a:t>
            </a:r>
          </a:p>
          <a:p>
            <a:pPr>
              <a:spcAft>
                <a:spcPts val="500"/>
              </a:spcAft>
              <a:defRPr sz="1600">
                <a:solidFill>
                  <a:srgbClr val="202A38"/>
                </a:solidFill>
                <a:latin typeface="Arial"/>
              </a:defRPr>
            </a:pPr>
            <a:r>
              <a:t>All models were evaluated under the same held-out ROI benchmark.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METHODS AND TECHNOLOGY</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8/15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Hybrid QML design and feature encoding</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Hybrid quantum design was selected because direct quantum image processing is not practical for this object-detection research setting today.</a:t>
            </a:r>
          </a:p>
        </p:txBody>
      </p:sp>
      <p:sp>
        <p:nvSpPr>
          <p:cNvPr id="8" name="Rounded Rectangle 7"/>
          <p:cNvSpPr/>
          <p:nvPr/>
        </p:nvSpPr>
        <p:spPr>
          <a:xfrm>
            <a:off x="640080" y="1828800"/>
            <a:ext cx="5394960" cy="4297680"/>
          </a:xfrm>
          <a:prstGeom prst="roundRect">
            <a:avLst/>
          </a:prstGeom>
          <a:solidFill>
            <a:srgbClr val="EAF7F4"/>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008071"/>
                </a:solidFill>
                <a:latin typeface="Arial"/>
              </a:rPr>
              <a:t>Why hybrid quantum</a:t>
            </a:r>
          </a:p>
        </p:txBody>
      </p:sp>
      <p:sp>
        <p:nvSpPr>
          <p:cNvPr id="10" name="TextBox 9"/>
          <p:cNvSpPr txBox="1"/>
          <p:nvPr/>
        </p:nvSpPr>
        <p:spPr>
          <a:xfrm>
            <a:off x="749808" y="2240280"/>
            <a:ext cx="5175504" cy="3822192"/>
          </a:xfrm>
          <a:prstGeom prst="rect">
            <a:avLst/>
          </a:prstGeom>
          <a:noFill/>
        </p:spPr>
        <p:txBody>
          <a:bodyPr wrap="square" lIns="101600" rIns="50800">
            <a:spAutoFit/>
          </a:bodyPr>
          <a:lstStyle/>
          <a:p>
            <a:pPr>
              <a:spcAft>
                <a:spcPts val="500"/>
              </a:spcAft>
              <a:defRPr sz="1600">
                <a:solidFill>
                  <a:srgbClr val="202A38"/>
                </a:solidFill>
                <a:latin typeface="Arial"/>
              </a:defRPr>
            </a:pPr>
            <a:r>
              <a:t>Raw images are too high-dimensional for a practical pure-quantum pipeline in the current setting.</a:t>
            </a:r>
          </a:p>
          <a:p>
            <a:pPr>
              <a:spcAft>
                <a:spcPts val="500"/>
              </a:spcAft>
              <a:defRPr sz="1600">
                <a:solidFill>
                  <a:srgbClr val="202A38"/>
                </a:solidFill>
                <a:latin typeface="Arial"/>
              </a:defRPr>
            </a:pPr>
            <a:r>
              <a:t>Hybrid QML keeps preprocessing and feature extraction classical, then evaluates quantum models at the classifier stage.</a:t>
            </a:r>
          </a:p>
          <a:p>
            <a:pPr>
              <a:spcAft>
                <a:spcPts val="500"/>
              </a:spcAft>
              <a:defRPr sz="1600">
                <a:solidFill>
                  <a:srgbClr val="202A38"/>
                </a:solidFill>
                <a:latin typeface="Arial"/>
              </a:defRPr>
            </a:pPr>
            <a:r>
              <a:t>This allows quantum methods to be studied without weakening the engineering foundation of the pipeline.</a:t>
            </a:r>
          </a:p>
        </p:txBody>
      </p:sp>
      <p:sp>
        <p:nvSpPr>
          <p:cNvPr id="11" name="Rounded Rectangle 10"/>
          <p:cNvSpPr/>
          <p:nvPr/>
        </p:nvSpPr>
        <p:spPr>
          <a:xfrm>
            <a:off x="6217920" y="1828800"/>
            <a:ext cx="5349240" cy="4297680"/>
          </a:xfrm>
          <a:prstGeom prst="roundRect">
            <a:avLst/>
          </a:prstGeom>
          <a:solidFill>
            <a:srgbClr val="F1EC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7A4DC4"/>
                </a:solidFill>
                <a:latin typeface="Arial"/>
              </a:rPr>
              <a:t>Quantum encoding and models</a:t>
            </a:r>
          </a:p>
        </p:txBody>
      </p:sp>
      <p:sp>
        <p:nvSpPr>
          <p:cNvPr id="13" name="TextBox 12"/>
          <p:cNvSpPr txBox="1"/>
          <p:nvPr/>
        </p:nvSpPr>
        <p:spPr>
          <a:xfrm>
            <a:off x="6327648" y="2240280"/>
            <a:ext cx="5129784" cy="3822192"/>
          </a:xfrm>
          <a:prstGeom prst="rect">
            <a:avLst/>
          </a:prstGeom>
          <a:noFill/>
        </p:spPr>
        <p:txBody>
          <a:bodyPr wrap="square" lIns="101600" rIns="50800">
            <a:spAutoFit/>
          </a:bodyPr>
          <a:lstStyle/>
          <a:p>
            <a:pPr>
              <a:spcAft>
                <a:spcPts val="500"/>
              </a:spcAft>
              <a:defRPr sz="1600">
                <a:solidFill>
                  <a:srgbClr val="202A38"/>
                </a:solidFill>
                <a:latin typeface="Arial"/>
              </a:defRPr>
            </a:pPr>
            <a:r>
              <a:t>Angle encoding maps classical features to quantum rotation parameters.</a:t>
            </a:r>
          </a:p>
          <a:p>
            <a:pPr>
              <a:spcAft>
                <a:spcPts val="500"/>
              </a:spcAft>
              <a:defRPr sz="1600">
                <a:solidFill>
                  <a:srgbClr val="202A38"/>
                </a:solidFill>
                <a:latin typeface="Arial"/>
              </a:defRPr>
            </a:pPr>
            <a:r>
              <a:t>Amplitude encoding normalizes features into a quantum-state representation.</a:t>
            </a:r>
          </a:p>
          <a:p>
            <a:pPr>
              <a:spcAft>
                <a:spcPts val="500"/>
              </a:spcAft>
              <a:defRPr sz="1600">
                <a:solidFill>
                  <a:srgbClr val="202A38"/>
                </a:solidFill>
                <a:latin typeface="Arial"/>
              </a:defRPr>
            </a:pPr>
            <a:r>
              <a:t>QSVMs test quantum kernels, while VQCs test trainable variational circuits.</a:t>
            </a:r>
          </a:p>
          <a:p>
            <a:pPr>
              <a:spcAft>
                <a:spcPts val="500"/>
              </a:spcAft>
              <a:defRPr sz="1600">
                <a:solidFill>
                  <a:srgbClr val="202A38"/>
                </a:solidFill>
                <a:latin typeface="Arial"/>
              </a:defRPr>
            </a:pPr>
            <a:r>
              <a:t>This design supports both accuracy comparison and methodological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METHODS AND TECHNOLOGY</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9/15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Comparison framework: Classical, hybrid quantum, and pure quantum</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project formalizes each approach so the recommendation can be explained clearly to technical and non-technical audiences.</a:t>
            </a:r>
          </a:p>
        </p:txBody>
      </p:sp>
      <p:graphicFrame>
        <p:nvGraphicFramePr>
          <p:cNvPr id="8" name="Table 7"/>
          <p:cNvGraphicFramePr>
            <a:graphicFrameLocks noGrp="1"/>
          </p:cNvGraphicFramePr>
          <p:nvPr/>
        </p:nvGraphicFramePr>
        <p:xfrm>
          <a:off x="502920" y="1828800"/>
          <a:ext cx="11201400" cy="4297680"/>
        </p:xfrm>
        <a:graphic>
          <a:graphicData uri="http://schemas.openxmlformats.org/drawingml/2006/table">
            <a:tbl>
              <a:tblPr firstRow="1" bandRow="1">
                <a:tableStyleId>{5C22544A-7EE6-4342-B048-85BDC9FD1C3A}</a:tableStyleId>
              </a:tblPr>
              <a:tblGrid>
                <a:gridCol w="2240280"/>
                <a:gridCol w="2240280"/>
                <a:gridCol w="2240280"/>
                <a:gridCol w="2240280"/>
                <a:gridCol w="2240280"/>
              </a:tblGrid>
              <a:tr h="1074420">
                <a:tc>
                  <a:txBody>
                    <a:bodyPr wrap="square"/>
                    <a:lstStyle/>
                    <a:p>
                      <a:pPr algn="ctr"/>
                      <a:r>
                        <a:rPr sz="950" b="1">
                          <a:solidFill>
                            <a:srgbClr val="FFFFFF"/>
                          </a:solidFill>
                          <a:latin typeface="Arial"/>
                        </a:rPr>
                        <a:t>Approach</a:t>
                      </a:r>
                    </a:p>
                  </a:txBody>
                  <a:tcPr>
                    <a:solidFill>
                      <a:srgbClr val="142444"/>
                    </a:solidFill>
                  </a:tcPr>
                </a:tc>
                <a:tc>
                  <a:txBody>
                    <a:bodyPr wrap="square"/>
                    <a:lstStyle/>
                    <a:p>
                      <a:pPr algn="ctr"/>
                      <a:r>
                        <a:rPr sz="950" b="1">
                          <a:solidFill>
                            <a:srgbClr val="FFFFFF"/>
                          </a:solidFill>
                          <a:latin typeface="Arial"/>
                        </a:rPr>
                        <a:t>How It Works Here</a:t>
                      </a:r>
                    </a:p>
                  </a:txBody>
                  <a:tcPr>
                    <a:solidFill>
                      <a:srgbClr val="142444"/>
                    </a:solidFill>
                  </a:tcPr>
                </a:tc>
                <a:tc>
                  <a:txBody>
                    <a:bodyPr wrap="square"/>
                    <a:lstStyle/>
                    <a:p>
                      <a:pPr algn="ctr"/>
                      <a:r>
                        <a:rPr sz="950" b="1">
                          <a:solidFill>
                            <a:srgbClr val="FFFFFF"/>
                          </a:solidFill>
                          <a:latin typeface="Arial"/>
                        </a:rPr>
                        <a:t>Advantages</a:t>
                      </a:r>
                    </a:p>
                  </a:txBody>
                  <a:tcPr>
                    <a:solidFill>
                      <a:srgbClr val="142444"/>
                    </a:solidFill>
                  </a:tcPr>
                </a:tc>
                <a:tc>
                  <a:txBody>
                    <a:bodyPr wrap="square"/>
                    <a:lstStyle/>
                    <a:p>
                      <a:pPr algn="ctr"/>
                      <a:r>
                        <a:rPr sz="950" b="1">
                          <a:solidFill>
                            <a:srgbClr val="FFFFFF"/>
                          </a:solidFill>
                          <a:latin typeface="Arial"/>
                        </a:rPr>
                        <a:t>Limitations</a:t>
                      </a:r>
                    </a:p>
                  </a:txBody>
                  <a:tcPr>
                    <a:solidFill>
                      <a:srgbClr val="142444"/>
                    </a:solidFill>
                  </a:tcPr>
                </a:tc>
                <a:tc>
                  <a:txBody>
                    <a:bodyPr wrap="square"/>
                    <a:lstStyle/>
                    <a:p>
                      <a:pPr algn="ctr"/>
                      <a:r>
                        <a:rPr sz="950" b="1">
                          <a:solidFill>
                            <a:srgbClr val="FFFFFF"/>
                          </a:solidFill>
                          <a:latin typeface="Arial"/>
                        </a:rPr>
                        <a:t>Best Use</a:t>
                      </a:r>
                    </a:p>
                  </a:txBody>
                  <a:tcPr>
                    <a:solidFill>
                      <a:srgbClr val="142444"/>
                    </a:solidFill>
                  </a:tcPr>
                </a:tc>
              </a:tr>
              <a:tr h="1074420">
                <a:tc>
                  <a:txBody>
                    <a:bodyPr wrap="square"/>
                    <a:lstStyle/>
                    <a:p>
                      <a:pPr algn="ctr"/>
                      <a:r>
                        <a:rPr sz="900" b="0">
                          <a:solidFill>
                            <a:srgbClr val="202A38"/>
                          </a:solidFill>
                          <a:latin typeface="Arial"/>
                        </a:rPr>
                        <a:t>Classical</a:t>
                      </a:r>
                    </a:p>
                  </a:txBody>
                  <a:tcPr>
                    <a:solidFill>
                      <a:srgbClr val="FFFFFF"/>
                    </a:solidFill>
                  </a:tcPr>
                </a:tc>
                <a:tc>
                  <a:txBody>
                    <a:bodyPr wrap="square"/>
                    <a:lstStyle/>
                    <a:p>
                      <a:pPr algn="ctr"/>
                      <a:r>
                        <a:rPr sz="900" b="0">
                          <a:solidFill>
                            <a:srgbClr val="202A38"/>
                          </a:solidFill>
                          <a:latin typeface="Arial"/>
                        </a:rPr>
                        <a:t>OpenCV + ROI features + classical classifier</a:t>
                      </a:r>
                    </a:p>
                  </a:txBody>
                  <a:tcPr>
                    <a:solidFill>
                      <a:srgbClr val="FFFFFF"/>
                    </a:solidFill>
                  </a:tcPr>
                </a:tc>
                <a:tc>
                  <a:txBody>
                    <a:bodyPr wrap="square"/>
                    <a:lstStyle/>
                    <a:p>
                      <a:pPr algn="ctr"/>
                      <a:r>
                        <a:rPr sz="900" b="0">
                          <a:solidFill>
                            <a:srgbClr val="202A38"/>
                          </a:solidFill>
                          <a:latin typeface="Arial"/>
                        </a:rPr>
                        <a:t>Strong baseline, faster training, easier deployment</a:t>
                      </a:r>
                    </a:p>
                  </a:txBody>
                  <a:tcPr>
                    <a:solidFill>
                      <a:srgbClr val="FFFFFF"/>
                    </a:solidFill>
                  </a:tcPr>
                </a:tc>
                <a:tc>
                  <a:txBody>
                    <a:bodyPr wrap="square"/>
                    <a:lstStyle/>
                    <a:p>
                      <a:pPr algn="ctr"/>
                      <a:r>
                        <a:rPr sz="900" b="0">
                          <a:solidFill>
                            <a:srgbClr val="202A38"/>
                          </a:solidFill>
                          <a:latin typeface="Arial"/>
                        </a:rPr>
                        <a:t>Lower research novelty</a:t>
                      </a:r>
                    </a:p>
                  </a:txBody>
                  <a:tcPr>
                    <a:solidFill>
                      <a:srgbClr val="FFFFFF"/>
                    </a:solidFill>
                  </a:tcPr>
                </a:tc>
                <a:tc>
                  <a:txBody>
                    <a:bodyPr wrap="square"/>
                    <a:lstStyle/>
                    <a:p>
                      <a:pPr algn="ctr"/>
                      <a:r>
                        <a:rPr sz="900" b="0">
                          <a:solidFill>
                            <a:srgbClr val="202A38"/>
                          </a:solidFill>
                          <a:latin typeface="Arial"/>
                        </a:rPr>
                        <a:t>Immediate production</a:t>
                      </a:r>
                    </a:p>
                  </a:txBody>
                  <a:tcPr>
                    <a:solidFill>
                      <a:srgbClr val="FFFFFF"/>
                    </a:solidFill>
                  </a:tcPr>
                </a:tc>
              </a:tr>
              <a:tr h="1074420">
                <a:tc>
                  <a:txBody>
                    <a:bodyPr wrap="square"/>
                    <a:lstStyle/>
                    <a:p>
                      <a:pPr algn="ctr"/>
                      <a:r>
                        <a:rPr sz="900" b="0">
                          <a:solidFill>
                            <a:srgbClr val="202A38"/>
                          </a:solidFill>
                          <a:latin typeface="Arial"/>
                        </a:rPr>
                        <a:t>Hybrid Quantum</a:t>
                      </a:r>
                    </a:p>
                  </a:txBody>
                  <a:tcPr>
                    <a:solidFill>
                      <a:srgbClr val="FFFFFF"/>
                    </a:solidFill>
                  </a:tcPr>
                </a:tc>
                <a:tc>
                  <a:txBody>
                    <a:bodyPr wrap="square"/>
                    <a:lstStyle/>
                    <a:p>
                      <a:pPr algn="ctr"/>
                      <a:r>
                        <a:rPr sz="900" b="0">
                          <a:solidFill>
                            <a:srgbClr val="202A38"/>
                          </a:solidFill>
                          <a:latin typeface="Arial"/>
                        </a:rPr>
                        <a:t>Classical preprocessing + compressed features + quantum classifier</a:t>
                      </a:r>
                    </a:p>
                  </a:txBody>
                  <a:tcPr>
                    <a:solidFill>
                      <a:srgbClr val="FFFFFF"/>
                    </a:solidFill>
                  </a:tcPr>
                </a:tc>
                <a:tc>
                  <a:txBody>
                    <a:bodyPr wrap="square"/>
                    <a:lstStyle/>
                    <a:p>
                      <a:pPr algn="ctr"/>
                      <a:r>
                        <a:rPr sz="900" b="0">
                          <a:solidFill>
                            <a:srgbClr val="202A38"/>
                          </a:solidFill>
                          <a:latin typeface="Arial"/>
                        </a:rPr>
                        <a:t>Most realistic way to evaluate QML today</a:t>
                      </a:r>
                    </a:p>
                  </a:txBody>
                  <a:tcPr>
                    <a:solidFill>
                      <a:srgbClr val="FFFFFF"/>
                    </a:solidFill>
                  </a:tcPr>
                </a:tc>
                <a:tc>
                  <a:txBody>
                    <a:bodyPr wrap="square"/>
                    <a:lstStyle/>
                    <a:p>
                      <a:pPr algn="ctr"/>
                      <a:r>
                        <a:rPr sz="900" b="0">
                          <a:solidFill>
                            <a:srgbClr val="202A38"/>
                          </a:solidFill>
                          <a:latin typeface="Arial"/>
                        </a:rPr>
                        <a:t>Higher complexity and longer training time</a:t>
                      </a:r>
                    </a:p>
                  </a:txBody>
                  <a:tcPr>
                    <a:solidFill>
                      <a:srgbClr val="FFFFFF"/>
                    </a:solidFill>
                  </a:tcPr>
                </a:tc>
                <a:tc>
                  <a:txBody>
                    <a:bodyPr wrap="square"/>
                    <a:lstStyle/>
                    <a:p>
                      <a:pPr algn="ctr"/>
                      <a:r>
                        <a:rPr sz="900" b="0">
                          <a:solidFill>
                            <a:srgbClr val="202A38"/>
                          </a:solidFill>
                          <a:latin typeface="Arial"/>
                        </a:rPr>
                        <a:t>Primary research track</a:t>
                      </a:r>
                    </a:p>
                  </a:txBody>
                  <a:tcPr>
                    <a:solidFill>
                      <a:srgbClr val="FFFFFF"/>
                    </a:solidFill>
                  </a:tcPr>
                </a:tc>
              </a:tr>
              <a:tr h="1074420">
                <a:tc>
                  <a:txBody>
                    <a:bodyPr wrap="square"/>
                    <a:lstStyle/>
                    <a:p>
                      <a:pPr algn="ctr"/>
                      <a:r>
                        <a:rPr sz="900" b="0">
                          <a:solidFill>
                            <a:srgbClr val="202A38"/>
                          </a:solidFill>
                          <a:latin typeface="Arial"/>
                        </a:rPr>
                        <a:t>Pure Quantum</a:t>
                      </a:r>
                    </a:p>
                  </a:txBody>
                  <a:tcPr>
                    <a:solidFill>
                      <a:srgbClr val="FFFFFF"/>
                    </a:solidFill>
                  </a:tcPr>
                </a:tc>
                <a:tc>
                  <a:txBody>
                    <a:bodyPr wrap="square"/>
                    <a:lstStyle/>
                    <a:p>
                      <a:pPr algn="ctr"/>
                      <a:r>
                        <a:rPr sz="900" b="0">
                          <a:solidFill>
                            <a:srgbClr val="202A38"/>
                          </a:solidFill>
                          <a:latin typeface="Arial"/>
                        </a:rPr>
                        <a:t>Direct quantum image encoding and classification</a:t>
                      </a:r>
                    </a:p>
                  </a:txBody>
                  <a:tcPr>
                    <a:solidFill>
                      <a:srgbClr val="FFFFFF"/>
                    </a:solidFill>
                  </a:tcPr>
                </a:tc>
                <a:tc>
                  <a:txBody>
                    <a:bodyPr wrap="square"/>
                    <a:lstStyle/>
                    <a:p>
                      <a:pPr algn="ctr"/>
                      <a:r>
                        <a:rPr sz="900" b="0">
                          <a:solidFill>
                            <a:srgbClr val="202A38"/>
                          </a:solidFill>
                          <a:latin typeface="Arial"/>
                        </a:rPr>
                        <a:t>High novelty and long-term strategic value</a:t>
                      </a:r>
                    </a:p>
                  </a:txBody>
                  <a:tcPr>
                    <a:solidFill>
                      <a:srgbClr val="FFFFFF"/>
                    </a:solidFill>
                  </a:tcPr>
                </a:tc>
                <a:tc>
                  <a:txBody>
                    <a:bodyPr wrap="square"/>
                    <a:lstStyle/>
                    <a:p>
                      <a:pPr algn="ctr"/>
                      <a:r>
                        <a:rPr sz="900" b="0">
                          <a:solidFill>
                            <a:srgbClr val="202A38"/>
                          </a:solidFill>
                          <a:latin typeface="Arial"/>
                        </a:rPr>
                        <a:t>Not practical for this task today</a:t>
                      </a:r>
                    </a:p>
                  </a:txBody>
                  <a:tcPr>
                    <a:solidFill>
                      <a:srgbClr val="FFFFFF"/>
                    </a:solidFill>
                  </a:tcPr>
                </a:tc>
                <a:tc>
                  <a:txBody>
                    <a:bodyPr wrap="square"/>
                    <a:lstStyle/>
                    <a:p>
                      <a:pPr algn="ctr"/>
                      <a:r>
                        <a:rPr sz="900" b="0">
                          <a:solidFill>
                            <a:srgbClr val="202A38"/>
                          </a:solidFill>
                          <a:latin typeface="Arial"/>
                        </a:rPr>
                        <a:t>Future exploration</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METHODS AND TECHNOLOGY</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10/15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Technologies used and key skills developed</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internship required integration across computer vision, QML, OCR, UI development, and technical reporting.</a:t>
            </a:r>
          </a:p>
        </p:txBody>
      </p:sp>
      <p:sp>
        <p:nvSpPr>
          <p:cNvPr id="8" name="Rounded Rectangle 7"/>
          <p:cNvSpPr/>
          <p:nvPr/>
        </p:nvSpPr>
        <p:spPr>
          <a:xfrm>
            <a:off x="640080" y="1828800"/>
            <a:ext cx="539496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142444"/>
                </a:solidFill>
                <a:latin typeface="Arial"/>
              </a:rPr>
              <a:t>Technology stack</a:t>
            </a:r>
          </a:p>
        </p:txBody>
      </p:sp>
      <p:sp>
        <p:nvSpPr>
          <p:cNvPr id="10" name="TextBox 9"/>
          <p:cNvSpPr txBox="1"/>
          <p:nvPr/>
        </p:nvSpPr>
        <p:spPr>
          <a:xfrm>
            <a:off x="749808" y="2240280"/>
            <a:ext cx="5175504" cy="3822192"/>
          </a:xfrm>
          <a:prstGeom prst="rect">
            <a:avLst/>
          </a:prstGeom>
          <a:noFill/>
        </p:spPr>
        <p:txBody>
          <a:bodyPr wrap="square" lIns="101600" rIns="50800">
            <a:spAutoFit/>
          </a:bodyPr>
          <a:lstStyle/>
          <a:p>
            <a:pPr>
              <a:spcAft>
                <a:spcPts val="500"/>
              </a:spcAft>
              <a:defRPr sz="1600">
                <a:solidFill>
                  <a:srgbClr val="202A38"/>
                </a:solidFill>
                <a:latin typeface="Arial"/>
              </a:defRPr>
            </a:pPr>
            <a:r>
              <a:t>Python, OpenCV, PyTorch, and Ultralytics YOLO</a:t>
            </a:r>
          </a:p>
          <a:p>
            <a:pPr>
              <a:spcAft>
                <a:spcPts val="500"/>
              </a:spcAft>
              <a:defRPr sz="1600">
                <a:solidFill>
                  <a:srgbClr val="202A38"/>
                </a:solidFill>
                <a:latin typeface="Arial"/>
              </a:defRPr>
            </a:pPr>
            <a:r>
              <a:t>Qiskit and Qiskit Machine Learning</a:t>
            </a:r>
          </a:p>
          <a:p>
            <a:pPr>
              <a:spcAft>
                <a:spcPts val="500"/>
              </a:spcAft>
              <a:defRPr sz="1600">
                <a:solidFill>
                  <a:srgbClr val="202A38"/>
                </a:solidFill>
                <a:latin typeface="Arial"/>
              </a:defRPr>
            </a:pPr>
            <a:r>
              <a:t>Tesseract OCR and Microsoft TrOCR</a:t>
            </a:r>
          </a:p>
          <a:p>
            <a:pPr>
              <a:spcAft>
                <a:spcPts val="500"/>
              </a:spcAft>
              <a:defRPr sz="1600">
                <a:solidFill>
                  <a:srgbClr val="202A38"/>
                </a:solidFill>
                <a:latin typeface="Arial"/>
              </a:defRPr>
            </a:pPr>
            <a:r>
              <a:t>Flask, React, JSON-based reporting, and PowerPoint automation</a:t>
            </a:r>
          </a:p>
        </p:txBody>
      </p:sp>
      <p:sp>
        <p:nvSpPr>
          <p:cNvPr id="11" name="Rounded Rectangle 10"/>
          <p:cNvSpPr/>
          <p:nvPr/>
        </p:nvSpPr>
        <p:spPr>
          <a:xfrm>
            <a:off x="6217920" y="1828800"/>
            <a:ext cx="5349240" cy="4297680"/>
          </a:xfrm>
          <a:prstGeom prst="roundRect">
            <a:avLst/>
          </a:prstGeom>
          <a:solidFill>
            <a:srgbClr val="EAF2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008071"/>
                </a:solidFill>
                <a:latin typeface="Arial"/>
              </a:rPr>
              <a:t>Skills developed</a:t>
            </a:r>
          </a:p>
        </p:txBody>
      </p:sp>
      <p:sp>
        <p:nvSpPr>
          <p:cNvPr id="13" name="TextBox 12"/>
          <p:cNvSpPr txBox="1"/>
          <p:nvPr/>
        </p:nvSpPr>
        <p:spPr>
          <a:xfrm>
            <a:off x="6327648" y="2240280"/>
            <a:ext cx="5129784" cy="3822192"/>
          </a:xfrm>
          <a:prstGeom prst="rect">
            <a:avLst/>
          </a:prstGeom>
          <a:noFill/>
        </p:spPr>
        <p:txBody>
          <a:bodyPr wrap="square" lIns="101600" rIns="50800">
            <a:spAutoFit/>
          </a:bodyPr>
          <a:lstStyle/>
          <a:p>
            <a:pPr>
              <a:spcAft>
                <a:spcPts val="500"/>
              </a:spcAft>
              <a:defRPr sz="1600">
                <a:solidFill>
                  <a:srgbClr val="202A38"/>
                </a:solidFill>
                <a:latin typeface="Arial"/>
              </a:defRPr>
            </a:pPr>
            <a:r>
              <a:t>End-to-end AI pipeline design and integration</a:t>
            </a:r>
          </a:p>
          <a:p>
            <a:pPr>
              <a:spcAft>
                <a:spcPts val="500"/>
              </a:spcAft>
              <a:defRPr sz="1600">
                <a:solidFill>
                  <a:srgbClr val="202A38"/>
                </a:solidFill>
                <a:latin typeface="Arial"/>
              </a:defRPr>
            </a:pPr>
            <a:r>
              <a:t>Dataset preparation and evaluation methodology</a:t>
            </a:r>
          </a:p>
          <a:p>
            <a:pPr>
              <a:spcAft>
                <a:spcPts val="500"/>
              </a:spcAft>
              <a:defRPr sz="1600">
                <a:solidFill>
                  <a:srgbClr val="202A38"/>
                </a:solidFill>
                <a:latin typeface="Arial"/>
              </a:defRPr>
            </a:pPr>
            <a:r>
              <a:t>QML benchmarking, interpretation, and recommendation</a:t>
            </a:r>
          </a:p>
          <a:p>
            <a:pPr>
              <a:spcAft>
                <a:spcPts val="500"/>
              </a:spcAft>
              <a:defRPr sz="1600">
                <a:solidFill>
                  <a:srgbClr val="202A38"/>
                </a:solidFill>
                <a:latin typeface="Arial"/>
              </a:defRPr>
            </a:pPr>
            <a:r>
              <a:t>Presentation-ready documentation and visual communication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INTERNSHIP OBJECTIVES</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11/15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Achievement of internship objectives I</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This slide covers application, knowledge, exploration, and identification.</a:t>
            </a:r>
          </a:p>
        </p:txBody>
      </p:sp>
      <p:sp>
        <p:nvSpPr>
          <p:cNvPr id="8" name="Rounded Rectangle 7"/>
          <p:cNvSpPr/>
          <p:nvPr/>
        </p:nvSpPr>
        <p:spPr>
          <a:xfrm>
            <a:off x="640080" y="1828800"/>
            <a:ext cx="539496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2271B3"/>
                </a:solidFill>
                <a:latin typeface="Arial"/>
              </a:rPr>
              <a:t>Application and knowledge</a:t>
            </a:r>
          </a:p>
        </p:txBody>
      </p:sp>
      <p:sp>
        <p:nvSpPr>
          <p:cNvPr id="10" name="TextBox 9"/>
          <p:cNvSpPr txBox="1"/>
          <p:nvPr/>
        </p:nvSpPr>
        <p:spPr>
          <a:xfrm>
            <a:off x="749808" y="2240280"/>
            <a:ext cx="5175504" cy="3822192"/>
          </a:xfrm>
          <a:prstGeom prst="rect">
            <a:avLst/>
          </a:prstGeom>
          <a:noFill/>
        </p:spPr>
        <p:txBody>
          <a:bodyPr wrap="square" lIns="101600" rIns="50800">
            <a:spAutoFit/>
          </a:bodyPr>
          <a:lstStyle/>
          <a:p>
            <a:pPr>
              <a:spcAft>
                <a:spcPts val="500"/>
              </a:spcAft>
              <a:defRPr sz="1600">
                <a:solidFill>
                  <a:srgbClr val="202A38"/>
                </a:solidFill>
                <a:latin typeface="Arial"/>
              </a:defRPr>
            </a:pPr>
            <a:r>
              <a:t>Applied computer vision, OCR, and machine-learning concepts in a complete working pipeline.</a:t>
            </a:r>
          </a:p>
          <a:p>
            <a:pPr>
              <a:spcAft>
                <a:spcPts val="500"/>
              </a:spcAft>
              <a:defRPr sz="1600">
                <a:solidFill>
                  <a:srgbClr val="202A38"/>
                </a:solidFill>
                <a:latin typeface="Arial"/>
              </a:defRPr>
            </a:pPr>
            <a:r>
              <a:t>Learned how quantum feature encoding and QML classifiers fit into a realistic hybrid workflow.</a:t>
            </a:r>
          </a:p>
          <a:p>
            <a:pPr>
              <a:spcAft>
                <a:spcPts val="500"/>
              </a:spcAft>
              <a:defRPr sz="1600">
                <a:solidFill>
                  <a:srgbClr val="202A38"/>
                </a:solidFill>
                <a:latin typeface="Arial"/>
              </a:defRPr>
            </a:pPr>
            <a:r>
              <a:t>Converted theoretical QML concepts into measurable implementation outcomes.</a:t>
            </a:r>
          </a:p>
        </p:txBody>
      </p:sp>
      <p:sp>
        <p:nvSpPr>
          <p:cNvPr id="11" name="Rounded Rectangle 10"/>
          <p:cNvSpPr/>
          <p:nvPr/>
        </p:nvSpPr>
        <p:spPr>
          <a:xfrm>
            <a:off x="6217920" y="1828800"/>
            <a:ext cx="5349240" cy="4297680"/>
          </a:xfrm>
          <a:prstGeom prst="roundRect">
            <a:avLst/>
          </a:prstGeom>
          <a:solidFill>
            <a:srgbClr val="F1EC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7A4DC4"/>
                </a:solidFill>
                <a:latin typeface="Arial"/>
              </a:rPr>
              <a:t>Exploration and identification</a:t>
            </a:r>
          </a:p>
        </p:txBody>
      </p:sp>
      <p:sp>
        <p:nvSpPr>
          <p:cNvPr id="13" name="TextBox 12"/>
          <p:cNvSpPr txBox="1"/>
          <p:nvPr/>
        </p:nvSpPr>
        <p:spPr>
          <a:xfrm>
            <a:off x="6327648" y="2240280"/>
            <a:ext cx="5129784" cy="3822192"/>
          </a:xfrm>
          <a:prstGeom prst="rect">
            <a:avLst/>
          </a:prstGeom>
          <a:noFill/>
        </p:spPr>
        <p:txBody>
          <a:bodyPr wrap="square" lIns="101600" rIns="50800">
            <a:spAutoFit/>
          </a:bodyPr>
          <a:lstStyle/>
          <a:p>
            <a:pPr>
              <a:spcAft>
                <a:spcPts val="500"/>
              </a:spcAft>
              <a:defRPr sz="1600">
                <a:solidFill>
                  <a:srgbClr val="202A38"/>
                </a:solidFill>
                <a:latin typeface="Arial"/>
              </a:defRPr>
            </a:pPr>
            <a:r>
              <a:t>Explored multiple encodings, kernels, and classifier families.</a:t>
            </a:r>
          </a:p>
          <a:p>
            <a:pPr>
              <a:spcAft>
                <a:spcPts val="500"/>
              </a:spcAft>
              <a:defRPr sz="1600">
                <a:solidFill>
                  <a:srgbClr val="202A38"/>
                </a:solidFill>
                <a:latin typeface="Arial"/>
              </a:defRPr>
            </a:pPr>
            <a:r>
              <a:t>Identified where quantum models are competitive and where classical models remain stronger.</a:t>
            </a:r>
          </a:p>
          <a:p>
            <a:pPr>
              <a:spcAft>
                <a:spcPts val="500"/>
              </a:spcAft>
              <a:defRPr sz="1600">
                <a:solidFill>
                  <a:srgbClr val="202A38"/>
                </a:solidFill>
                <a:latin typeface="Arial"/>
              </a:defRPr>
            </a:pPr>
            <a:r>
              <a:t>Interpreted the comparison using held-out metrics instead of assumptions.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INTERNSHIP OBJECTIVES</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12/15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Achievement of internship objectives II</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This slide covers innovation, engagement, evaluation, and demonstration.</a:t>
            </a:r>
          </a:p>
        </p:txBody>
      </p:sp>
      <p:sp>
        <p:nvSpPr>
          <p:cNvPr id="8" name="Rounded Rectangle 7"/>
          <p:cNvSpPr/>
          <p:nvPr/>
        </p:nvSpPr>
        <p:spPr>
          <a:xfrm>
            <a:off x="640080" y="1828800"/>
            <a:ext cx="5394960" cy="4297680"/>
          </a:xfrm>
          <a:prstGeom prst="roundRect">
            <a:avLst/>
          </a:prstGeom>
          <a:solidFill>
            <a:srgbClr val="EAF7F4"/>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120640" cy="228600"/>
          </a:xfrm>
          <a:prstGeom prst="rect">
            <a:avLst/>
          </a:prstGeom>
          <a:noFill/>
        </p:spPr>
        <p:txBody>
          <a:bodyPr wrap="none">
            <a:spAutoFit/>
          </a:bodyPr>
          <a:lstStyle/>
          <a:p>
            <a:r>
              <a:rPr b="1" sz="1400">
                <a:solidFill>
                  <a:srgbClr val="008071"/>
                </a:solidFill>
                <a:latin typeface="Arial"/>
              </a:rPr>
              <a:t>Innovation and engagement</a:t>
            </a:r>
          </a:p>
        </p:txBody>
      </p:sp>
      <p:sp>
        <p:nvSpPr>
          <p:cNvPr id="10" name="TextBox 9"/>
          <p:cNvSpPr txBox="1"/>
          <p:nvPr/>
        </p:nvSpPr>
        <p:spPr>
          <a:xfrm>
            <a:off x="749808" y="2240280"/>
            <a:ext cx="5175504" cy="3822192"/>
          </a:xfrm>
          <a:prstGeom prst="rect">
            <a:avLst/>
          </a:prstGeom>
          <a:noFill/>
        </p:spPr>
        <p:txBody>
          <a:bodyPr wrap="square" lIns="101600" rIns="50800">
            <a:spAutoFit/>
          </a:bodyPr>
          <a:lstStyle/>
          <a:p>
            <a:pPr>
              <a:spcAft>
                <a:spcPts val="500"/>
              </a:spcAft>
              <a:defRPr sz="1600">
                <a:solidFill>
                  <a:srgbClr val="202A38"/>
                </a:solidFill>
                <a:latin typeface="Arial"/>
              </a:defRPr>
            </a:pPr>
            <a:r>
              <a:t>Built a hybrid classical-quantum benchmark platform rather than a single-model demo.</a:t>
            </a:r>
          </a:p>
          <a:p>
            <a:pPr>
              <a:spcAft>
                <a:spcPts val="500"/>
              </a:spcAft>
              <a:defRPr sz="1600">
                <a:solidFill>
                  <a:srgbClr val="202A38"/>
                </a:solidFill>
                <a:latin typeface="Arial"/>
              </a:defRPr>
            </a:pPr>
            <a:r>
              <a:t>Worked across vision, OCR, QML, UI, benchmarking, and technical documentation.</a:t>
            </a:r>
          </a:p>
          <a:p>
            <a:pPr>
              <a:spcAft>
                <a:spcPts val="500"/>
              </a:spcAft>
              <a:defRPr sz="1600">
                <a:solidFill>
                  <a:srgbClr val="202A38"/>
                </a:solidFill>
                <a:latin typeface="Arial"/>
              </a:defRPr>
            </a:pPr>
            <a:r>
              <a:t>Created a project that supports both engineering use and research communication.</a:t>
            </a:r>
          </a:p>
        </p:txBody>
      </p:sp>
      <p:sp>
        <p:nvSpPr>
          <p:cNvPr id="11" name="Rounded Rectangle 10"/>
          <p:cNvSpPr/>
          <p:nvPr/>
        </p:nvSpPr>
        <p:spPr>
          <a:xfrm>
            <a:off x="6217920" y="1828800"/>
            <a:ext cx="534924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074920" cy="228600"/>
          </a:xfrm>
          <a:prstGeom prst="rect">
            <a:avLst/>
          </a:prstGeom>
          <a:noFill/>
        </p:spPr>
        <p:txBody>
          <a:bodyPr wrap="none">
            <a:spAutoFit/>
          </a:bodyPr>
          <a:lstStyle/>
          <a:p>
            <a:r>
              <a:rPr b="1" sz="1400">
                <a:solidFill>
                  <a:srgbClr val="B48C36"/>
                </a:solidFill>
                <a:latin typeface="Arial"/>
              </a:rPr>
              <a:t>Evaluation and demonstration</a:t>
            </a:r>
          </a:p>
        </p:txBody>
      </p:sp>
      <p:sp>
        <p:nvSpPr>
          <p:cNvPr id="13" name="TextBox 12"/>
          <p:cNvSpPr txBox="1"/>
          <p:nvPr/>
        </p:nvSpPr>
        <p:spPr>
          <a:xfrm>
            <a:off x="6327648" y="2240280"/>
            <a:ext cx="5129784" cy="3822192"/>
          </a:xfrm>
          <a:prstGeom prst="rect">
            <a:avLst/>
          </a:prstGeom>
          <a:noFill/>
        </p:spPr>
        <p:txBody>
          <a:bodyPr wrap="square" lIns="101600" rIns="50800">
            <a:spAutoFit/>
          </a:bodyPr>
          <a:lstStyle/>
          <a:p>
            <a:pPr>
              <a:spcAft>
                <a:spcPts val="500"/>
              </a:spcAft>
              <a:defRPr sz="1600">
                <a:solidFill>
                  <a:srgbClr val="202A38"/>
                </a:solidFill>
                <a:latin typeface="Arial"/>
              </a:defRPr>
            </a:pPr>
            <a:r>
              <a:t>Benchmarked all classifier families on the same ROI dataset and evaluation logic.</a:t>
            </a:r>
          </a:p>
          <a:p>
            <a:pPr>
              <a:spcAft>
                <a:spcPts val="500"/>
              </a:spcAft>
              <a:defRPr sz="1600">
                <a:solidFill>
                  <a:srgbClr val="202A38"/>
                </a:solidFill>
                <a:latin typeface="Arial"/>
              </a:defRPr>
            </a:pPr>
            <a:r>
              <a:t>Generated reusable artifacts, charts, and tables for repeatable review.</a:t>
            </a:r>
          </a:p>
          <a:p>
            <a:pPr>
              <a:spcAft>
                <a:spcPts val="500"/>
              </a:spcAft>
              <a:defRPr sz="1600">
                <a:solidFill>
                  <a:srgbClr val="202A38"/>
                </a:solidFill>
                <a:latin typeface="Arial"/>
              </a:defRPr>
            </a:pPr>
            <a:r>
              <a:t>Prepared a presentation-ready UI and formal reporting material for evaluation.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RESULTS</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13/15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Detector performance and all-model accuracy comparison</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This slide shows the detector outcome and the ROI classification accuracy of every available model.</a:t>
            </a:r>
          </a:p>
        </p:txBody>
      </p:sp>
      <p:sp>
        <p:nvSpPr>
          <p:cNvPr id="8" name="Rounded Rectangle 7"/>
          <p:cNvSpPr/>
          <p:nvPr/>
        </p:nvSpPr>
        <p:spPr>
          <a:xfrm>
            <a:off x="685800" y="18288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28800"/>
            <a:ext cx="91440" cy="960120"/>
          </a:xfrm>
          <a:prstGeom prst="rect">
            <a:avLst/>
          </a:prstGeom>
          <a:solidFill>
            <a:srgbClr val="2271B3"/>
          </a:solidFill>
          <a:ln>
            <a:solidFill>
              <a:srgbClr val="2271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938528"/>
            <a:ext cx="1645920" cy="182880"/>
          </a:xfrm>
          <a:prstGeom prst="rect">
            <a:avLst/>
          </a:prstGeom>
          <a:noFill/>
        </p:spPr>
        <p:txBody>
          <a:bodyPr wrap="none">
            <a:spAutoFit/>
          </a:bodyPr>
          <a:lstStyle/>
          <a:p>
            <a:r>
              <a:rPr sz="1000">
                <a:solidFill>
                  <a:srgbClr val="586478"/>
                </a:solidFill>
                <a:latin typeface="Arial"/>
              </a:rPr>
              <a:t>Precision</a:t>
            </a:r>
          </a:p>
        </p:txBody>
      </p:sp>
      <p:sp>
        <p:nvSpPr>
          <p:cNvPr id="11" name="TextBox 10"/>
          <p:cNvSpPr txBox="1"/>
          <p:nvPr/>
        </p:nvSpPr>
        <p:spPr>
          <a:xfrm>
            <a:off x="850392" y="2139696"/>
            <a:ext cx="1645920" cy="310896"/>
          </a:xfrm>
          <a:prstGeom prst="rect">
            <a:avLst/>
          </a:prstGeom>
          <a:noFill/>
        </p:spPr>
        <p:txBody>
          <a:bodyPr wrap="none">
            <a:spAutoFit/>
          </a:bodyPr>
          <a:lstStyle/>
          <a:p>
            <a:r>
              <a:rPr b="1" sz="1900">
                <a:solidFill>
                  <a:srgbClr val="0D182E"/>
                </a:solidFill>
                <a:latin typeface="Arial"/>
              </a:rPr>
              <a:t>0.9005</a:t>
            </a:r>
          </a:p>
        </p:txBody>
      </p:sp>
      <p:sp>
        <p:nvSpPr>
          <p:cNvPr id="12" name="TextBox 11"/>
          <p:cNvSpPr txBox="1"/>
          <p:nvPr/>
        </p:nvSpPr>
        <p:spPr>
          <a:xfrm>
            <a:off x="850392" y="2468880"/>
            <a:ext cx="1645920" cy="164592"/>
          </a:xfrm>
          <a:prstGeom prst="rect">
            <a:avLst/>
          </a:prstGeom>
          <a:noFill/>
        </p:spPr>
        <p:txBody>
          <a:bodyPr wrap="none">
            <a:spAutoFit/>
          </a:bodyPr>
          <a:lstStyle/>
          <a:p>
            <a:r>
              <a:rPr sz="850">
                <a:solidFill>
                  <a:srgbClr val="586478"/>
                </a:solidFill>
                <a:latin typeface="Arial"/>
              </a:rPr>
              <a:t>Detector metric</a:t>
            </a:r>
          </a:p>
        </p:txBody>
      </p:sp>
      <p:sp>
        <p:nvSpPr>
          <p:cNvPr id="13" name="Rounded Rectangle 12"/>
          <p:cNvSpPr/>
          <p:nvPr/>
        </p:nvSpPr>
        <p:spPr>
          <a:xfrm>
            <a:off x="2880360" y="18288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1828800"/>
            <a:ext cx="91440" cy="960120"/>
          </a:xfrm>
          <a:prstGeom prst="rect">
            <a:avLst/>
          </a:prstGeom>
          <a:solidFill>
            <a:srgbClr val="008071"/>
          </a:solidFill>
          <a:ln>
            <a:solidFill>
              <a:srgbClr val="0080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44952" y="1938528"/>
            <a:ext cx="1645920" cy="182880"/>
          </a:xfrm>
          <a:prstGeom prst="rect">
            <a:avLst/>
          </a:prstGeom>
          <a:noFill/>
        </p:spPr>
        <p:txBody>
          <a:bodyPr wrap="none">
            <a:spAutoFit/>
          </a:bodyPr>
          <a:lstStyle/>
          <a:p>
            <a:r>
              <a:rPr sz="1000">
                <a:solidFill>
                  <a:srgbClr val="586478"/>
                </a:solidFill>
                <a:latin typeface="Arial"/>
              </a:rPr>
              <a:t>Recall</a:t>
            </a:r>
          </a:p>
        </p:txBody>
      </p:sp>
      <p:sp>
        <p:nvSpPr>
          <p:cNvPr id="16" name="TextBox 15"/>
          <p:cNvSpPr txBox="1"/>
          <p:nvPr/>
        </p:nvSpPr>
        <p:spPr>
          <a:xfrm>
            <a:off x="3044952" y="2139696"/>
            <a:ext cx="1645920" cy="310896"/>
          </a:xfrm>
          <a:prstGeom prst="rect">
            <a:avLst/>
          </a:prstGeom>
          <a:noFill/>
        </p:spPr>
        <p:txBody>
          <a:bodyPr wrap="none">
            <a:spAutoFit/>
          </a:bodyPr>
          <a:lstStyle/>
          <a:p>
            <a:r>
              <a:rPr b="1" sz="1900">
                <a:solidFill>
                  <a:srgbClr val="0D182E"/>
                </a:solidFill>
                <a:latin typeface="Arial"/>
              </a:rPr>
              <a:t>0.9497</a:t>
            </a:r>
          </a:p>
        </p:txBody>
      </p:sp>
      <p:sp>
        <p:nvSpPr>
          <p:cNvPr id="17" name="TextBox 16"/>
          <p:cNvSpPr txBox="1"/>
          <p:nvPr/>
        </p:nvSpPr>
        <p:spPr>
          <a:xfrm>
            <a:off x="3044952" y="2468880"/>
            <a:ext cx="1645920" cy="164592"/>
          </a:xfrm>
          <a:prstGeom prst="rect">
            <a:avLst/>
          </a:prstGeom>
          <a:noFill/>
        </p:spPr>
        <p:txBody>
          <a:bodyPr wrap="none">
            <a:spAutoFit/>
          </a:bodyPr>
          <a:lstStyle/>
          <a:p>
            <a:r>
              <a:rPr sz="850">
                <a:solidFill>
                  <a:srgbClr val="586478"/>
                </a:solidFill>
                <a:latin typeface="Arial"/>
              </a:rPr>
              <a:t>Detector metric</a:t>
            </a:r>
          </a:p>
        </p:txBody>
      </p:sp>
      <p:sp>
        <p:nvSpPr>
          <p:cNvPr id="18" name="Rounded Rectangle 17"/>
          <p:cNvSpPr/>
          <p:nvPr/>
        </p:nvSpPr>
        <p:spPr>
          <a:xfrm>
            <a:off x="5074920" y="18288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74920" y="1828800"/>
            <a:ext cx="91440" cy="960120"/>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9512" y="1938528"/>
            <a:ext cx="1645920" cy="182880"/>
          </a:xfrm>
          <a:prstGeom prst="rect">
            <a:avLst/>
          </a:prstGeom>
          <a:noFill/>
        </p:spPr>
        <p:txBody>
          <a:bodyPr wrap="none">
            <a:spAutoFit/>
          </a:bodyPr>
          <a:lstStyle/>
          <a:p>
            <a:r>
              <a:rPr sz="1000">
                <a:solidFill>
                  <a:srgbClr val="586478"/>
                </a:solidFill>
                <a:latin typeface="Arial"/>
              </a:rPr>
              <a:t>mAP@50</a:t>
            </a:r>
          </a:p>
        </p:txBody>
      </p:sp>
      <p:sp>
        <p:nvSpPr>
          <p:cNvPr id="21" name="TextBox 20"/>
          <p:cNvSpPr txBox="1"/>
          <p:nvPr/>
        </p:nvSpPr>
        <p:spPr>
          <a:xfrm>
            <a:off x="5239512" y="2139696"/>
            <a:ext cx="1645920" cy="310896"/>
          </a:xfrm>
          <a:prstGeom prst="rect">
            <a:avLst/>
          </a:prstGeom>
          <a:noFill/>
        </p:spPr>
        <p:txBody>
          <a:bodyPr wrap="none">
            <a:spAutoFit/>
          </a:bodyPr>
          <a:lstStyle/>
          <a:p>
            <a:r>
              <a:rPr b="1" sz="1900">
                <a:solidFill>
                  <a:srgbClr val="0D182E"/>
                </a:solidFill>
                <a:latin typeface="Arial"/>
              </a:rPr>
              <a:t>0.9559</a:t>
            </a:r>
          </a:p>
        </p:txBody>
      </p:sp>
      <p:sp>
        <p:nvSpPr>
          <p:cNvPr id="22" name="TextBox 21"/>
          <p:cNvSpPr txBox="1"/>
          <p:nvPr/>
        </p:nvSpPr>
        <p:spPr>
          <a:xfrm>
            <a:off x="5239512" y="2468880"/>
            <a:ext cx="1645920" cy="164592"/>
          </a:xfrm>
          <a:prstGeom prst="rect">
            <a:avLst/>
          </a:prstGeom>
          <a:noFill/>
        </p:spPr>
        <p:txBody>
          <a:bodyPr wrap="none">
            <a:spAutoFit/>
          </a:bodyPr>
          <a:lstStyle/>
          <a:p>
            <a:r>
              <a:rPr sz="850">
                <a:solidFill>
                  <a:srgbClr val="586478"/>
                </a:solidFill>
                <a:latin typeface="Arial"/>
              </a:rPr>
              <a:t>Detector metric</a:t>
            </a:r>
          </a:p>
        </p:txBody>
      </p:sp>
      <p:sp>
        <p:nvSpPr>
          <p:cNvPr id="23" name="Rounded Rectangle 22"/>
          <p:cNvSpPr/>
          <p:nvPr/>
        </p:nvSpPr>
        <p:spPr>
          <a:xfrm>
            <a:off x="7269480" y="182880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1828800"/>
            <a:ext cx="91440" cy="960120"/>
          </a:xfrm>
          <a:prstGeom prst="rect">
            <a:avLst/>
          </a:prstGeom>
          <a:solidFill>
            <a:srgbClr val="2271B3"/>
          </a:solidFill>
          <a:ln>
            <a:solidFill>
              <a:srgbClr val="2271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4072" y="1938528"/>
            <a:ext cx="1645920" cy="182880"/>
          </a:xfrm>
          <a:prstGeom prst="rect">
            <a:avLst/>
          </a:prstGeom>
          <a:noFill/>
        </p:spPr>
        <p:txBody>
          <a:bodyPr wrap="none">
            <a:spAutoFit/>
          </a:bodyPr>
          <a:lstStyle/>
          <a:p>
            <a:r>
              <a:rPr sz="1000">
                <a:solidFill>
                  <a:srgbClr val="586478"/>
                </a:solidFill>
                <a:latin typeface="Arial"/>
              </a:rPr>
              <a:t>mAP@50-95</a:t>
            </a:r>
          </a:p>
        </p:txBody>
      </p:sp>
      <p:sp>
        <p:nvSpPr>
          <p:cNvPr id="26" name="TextBox 25"/>
          <p:cNvSpPr txBox="1"/>
          <p:nvPr/>
        </p:nvSpPr>
        <p:spPr>
          <a:xfrm>
            <a:off x="7434072" y="2139696"/>
            <a:ext cx="1645920" cy="310896"/>
          </a:xfrm>
          <a:prstGeom prst="rect">
            <a:avLst/>
          </a:prstGeom>
          <a:noFill/>
        </p:spPr>
        <p:txBody>
          <a:bodyPr wrap="none">
            <a:spAutoFit/>
          </a:bodyPr>
          <a:lstStyle/>
          <a:p>
            <a:r>
              <a:rPr b="1" sz="1900">
                <a:solidFill>
                  <a:srgbClr val="0D182E"/>
                </a:solidFill>
                <a:latin typeface="Arial"/>
              </a:rPr>
              <a:t>0.6116</a:t>
            </a:r>
          </a:p>
        </p:txBody>
      </p:sp>
      <p:sp>
        <p:nvSpPr>
          <p:cNvPr id="27" name="TextBox 26"/>
          <p:cNvSpPr txBox="1"/>
          <p:nvPr/>
        </p:nvSpPr>
        <p:spPr>
          <a:xfrm>
            <a:off x="7434072" y="2468880"/>
            <a:ext cx="1645920" cy="164592"/>
          </a:xfrm>
          <a:prstGeom prst="rect">
            <a:avLst/>
          </a:prstGeom>
          <a:noFill/>
        </p:spPr>
        <p:txBody>
          <a:bodyPr wrap="none">
            <a:spAutoFit/>
          </a:bodyPr>
          <a:lstStyle/>
          <a:p>
            <a:r>
              <a:rPr sz="850">
                <a:solidFill>
                  <a:srgbClr val="586478"/>
                </a:solidFill>
                <a:latin typeface="Arial"/>
              </a:rPr>
              <a:t>Detector metric</a:t>
            </a:r>
          </a:p>
        </p:txBody>
      </p:sp>
      <p:graphicFrame>
        <p:nvGraphicFramePr>
          <p:cNvPr id="28" name="Chart 27"/>
          <p:cNvGraphicFramePr>
            <a:graphicFrameLocks noGrp="1"/>
          </p:cNvGraphicFramePr>
          <p:nvPr/>
        </p:nvGraphicFramePr>
        <p:xfrm>
          <a:off x="640080" y="2971800"/>
          <a:ext cx="7452360" cy="3200400"/>
        </p:xfrm>
        <a:graphic>
          <a:graphicData uri="http://schemas.openxmlformats.org/drawingml/2006/chart">
            <c:chart xmlns:c="http://schemas.openxmlformats.org/drawingml/2006/chart" r:id="rId2"/>
          </a:graphicData>
        </a:graphic>
      </p:graphicFrame>
      <p:sp>
        <p:nvSpPr>
          <p:cNvPr id="29" name="Rounded Rectangle 28"/>
          <p:cNvSpPr/>
          <p:nvPr/>
        </p:nvSpPr>
        <p:spPr>
          <a:xfrm>
            <a:off x="8229600" y="2926080"/>
            <a:ext cx="3383280" cy="3246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2999232"/>
            <a:ext cx="3108960" cy="228600"/>
          </a:xfrm>
          <a:prstGeom prst="rect">
            <a:avLst/>
          </a:prstGeom>
          <a:noFill/>
        </p:spPr>
        <p:txBody>
          <a:bodyPr wrap="none">
            <a:spAutoFit/>
          </a:bodyPr>
          <a:lstStyle/>
          <a:p>
            <a:r>
              <a:rPr b="1" sz="1400">
                <a:solidFill>
                  <a:srgbClr val="142444"/>
                </a:solidFill>
                <a:latin typeface="Arial"/>
              </a:rPr>
              <a:t>Key observations</a:t>
            </a:r>
          </a:p>
        </p:txBody>
      </p:sp>
      <p:sp>
        <p:nvSpPr>
          <p:cNvPr id="31" name="TextBox 30"/>
          <p:cNvSpPr txBox="1"/>
          <p:nvPr/>
        </p:nvSpPr>
        <p:spPr>
          <a:xfrm>
            <a:off x="8339328" y="3337560"/>
            <a:ext cx="3163824" cy="2770632"/>
          </a:xfrm>
          <a:prstGeom prst="rect">
            <a:avLst/>
          </a:prstGeom>
          <a:noFill/>
        </p:spPr>
        <p:txBody>
          <a:bodyPr wrap="square" lIns="101600" rIns="50800">
            <a:spAutoFit/>
          </a:bodyPr>
          <a:lstStyle/>
          <a:p>
            <a:pPr>
              <a:spcAft>
                <a:spcPts val="500"/>
              </a:spcAft>
              <a:defRPr sz="1400">
                <a:solidFill>
                  <a:srgbClr val="202A38"/>
                </a:solidFill>
                <a:latin typeface="Arial"/>
              </a:defRPr>
            </a:pPr>
            <a:r>
              <a:t>All classifier models currently available in the project are included in the comparison.</a:t>
            </a:r>
          </a:p>
          <a:p>
            <a:pPr>
              <a:spcAft>
                <a:spcPts val="500"/>
              </a:spcAft>
              <a:defRPr sz="1400">
                <a:solidFill>
                  <a:srgbClr val="202A38"/>
                </a:solidFill>
                <a:latin typeface="Arial"/>
              </a:defRPr>
            </a:pPr>
            <a:r>
              <a:t>The strongest classical models and the amplitude-encoding QSVM all reached 99.5% ROI accuracy.</a:t>
            </a:r>
          </a:p>
          <a:p>
            <a:pPr>
              <a:spcAft>
                <a:spcPts val="500"/>
              </a:spcAft>
              <a:defRPr sz="1400">
                <a:solidFill>
                  <a:srgbClr val="202A38"/>
                </a:solidFill>
                <a:latin typeface="Arial"/>
              </a:defRPr>
            </a:pPr>
            <a:r>
              <a:t>The broader quantum family shows higher performance variability than the classical family.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RESULTS</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14/15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Formal benchmark table and recommendation</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This slide provides the detailed model comparison and the final production-versus-research recommendation.</a:t>
            </a:r>
          </a:p>
        </p:txBody>
      </p:sp>
      <p:graphicFrame>
        <p:nvGraphicFramePr>
          <p:cNvPr id="8" name="Table 7"/>
          <p:cNvGraphicFramePr>
            <a:graphicFrameLocks noGrp="1"/>
          </p:cNvGraphicFramePr>
          <p:nvPr/>
        </p:nvGraphicFramePr>
        <p:xfrm>
          <a:off x="502920" y="1828800"/>
          <a:ext cx="5486400" cy="2880360"/>
        </p:xfrm>
        <a:graphic>
          <a:graphicData uri="http://schemas.openxmlformats.org/drawingml/2006/table">
            <a:tbl>
              <a:tblPr firstRow="1" bandRow="1">
                <a:tableStyleId>{5C22544A-7EE6-4342-B048-85BDC9FD1C3A}</a:tableStyleId>
              </a:tblPr>
              <a:tblGrid>
                <a:gridCol w="1097280"/>
                <a:gridCol w="1097280"/>
                <a:gridCol w="1097280"/>
                <a:gridCol w="1097280"/>
                <a:gridCol w="1097280"/>
              </a:tblGrid>
              <a:tr h="480060">
                <a:tc>
                  <a:txBody>
                    <a:bodyPr wrap="square"/>
                    <a:lstStyle/>
                    <a:p>
                      <a:pPr algn="ctr"/>
                      <a:r>
                        <a:rPr sz="950" b="1">
                          <a:solidFill>
                            <a:srgbClr val="FFFFFF"/>
                          </a:solidFill>
                          <a:latin typeface="Arial"/>
                        </a:rPr>
                        <a:t>Model</a:t>
                      </a:r>
                    </a:p>
                  </a:txBody>
                  <a:tcPr>
                    <a:solidFill>
                      <a:srgbClr val="142444"/>
                    </a:solidFill>
                  </a:tcPr>
                </a:tc>
                <a:tc>
                  <a:txBody>
                    <a:bodyPr wrap="square"/>
                    <a:lstStyle/>
                    <a:p>
                      <a:pPr algn="ctr"/>
                      <a:r>
                        <a:rPr sz="950" b="1">
                          <a:solidFill>
                            <a:srgbClr val="FFFFFF"/>
                          </a:solidFill>
                          <a:latin typeface="Arial"/>
                        </a:rPr>
                        <a:t>Family</a:t>
                      </a:r>
                    </a:p>
                  </a:txBody>
                  <a:tcPr>
                    <a:solidFill>
                      <a:srgbClr val="142444"/>
                    </a:solidFill>
                  </a:tcPr>
                </a:tc>
                <a:tc>
                  <a:txBody>
                    <a:bodyPr wrap="square"/>
                    <a:lstStyle/>
                    <a:p>
                      <a:pPr algn="ctr"/>
                      <a:r>
                        <a:rPr sz="950" b="1">
                          <a:solidFill>
                            <a:srgbClr val="FFFFFF"/>
                          </a:solidFill>
                          <a:latin typeface="Arial"/>
                        </a:rPr>
                        <a:t>Accuracy</a:t>
                      </a:r>
                    </a:p>
                  </a:txBody>
                  <a:tcPr>
                    <a:solidFill>
                      <a:srgbClr val="142444"/>
                    </a:solidFill>
                  </a:tcPr>
                </a:tc>
                <a:tc>
                  <a:txBody>
                    <a:bodyPr wrap="square"/>
                    <a:lstStyle/>
                    <a:p>
                      <a:pPr algn="ctr"/>
                      <a:r>
                        <a:rPr sz="950" b="1">
                          <a:solidFill>
                            <a:srgbClr val="FFFFFF"/>
                          </a:solidFill>
                          <a:latin typeface="Arial"/>
                        </a:rPr>
                        <a:t>Macro F1</a:t>
                      </a:r>
                    </a:p>
                  </a:txBody>
                  <a:tcPr>
                    <a:solidFill>
                      <a:srgbClr val="142444"/>
                    </a:solidFill>
                  </a:tcPr>
                </a:tc>
                <a:tc>
                  <a:txBody>
                    <a:bodyPr wrap="square"/>
                    <a:lstStyle/>
                    <a:p>
                      <a:pPr algn="ctr"/>
                      <a:r>
                        <a:rPr sz="950" b="1">
                          <a:solidFill>
                            <a:srgbClr val="FFFFFF"/>
                          </a:solidFill>
                          <a:latin typeface="Arial"/>
                        </a:rPr>
                        <a:t>Train Time (s)</a:t>
                      </a:r>
                    </a:p>
                  </a:txBody>
                  <a:tcPr>
                    <a:solidFill>
                      <a:srgbClr val="142444"/>
                    </a:solidFill>
                  </a:tcPr>
                </a:tc>
              </a:tr>
              <a:tr h="480060">
                <a:tc>
                  <a:txBody>
                    <a:bodyPr wrap="square"/>
                    <a:lstStyle/>
                    <a:p>
                      <a:pPr algn="ctr"/>
                      <a:r>
                        <a:rPr sz="900" b="0">
                          <a:solidFill>
                            <a:srgbClr val="202A38"/>
                          </a:solidFill>
                          <a:latin typeface="Arial"/>
                        </a:rPr>
                        <a:t>Classical SVM [C]</a:t>
                      </a:r>
                    </a:p>
                  </a:txBody>
                  <a:tcPr>
                    <a:solidFill>
                      <a:srgbClr val="FFFFFF"/>
                    </a:solidFill>
                  </a:tcPr>
                </a:tc>
                <a:tc>
                  <a:txBody>
                    <a:bodyPr wrap="square"/>
                    <a:lstStyle/>
                    <a:p>
                      <a:pPr algn="ctr"/>
                      <a:r>
                        <a:rPr sz="900" b="0">
                          <a:solidFill>
                            <a:srgbClr val="202A38"/>
                          </a:solidFill>
                          <a:latin typeface="Arial"/>
                        </a:rPr>
                        <a:t>Classical</a:t>
                      </a:r>
                    </a:p>
                  </a:txBody>
                  <a:tcPr>
                    <a:solidFill>
                      <a:srgbClr val="FFFFFF"/>
                    </a:solidFill>
                  </a:tcPr>
                </a:tc>
                <a:tc>
                  <a:txBody>
                    <a:bodyPr wrap="square"/>
                    <a:lstStyle/>
                    <a:p>
                      <a:pPr algn="ctr"/>
                      <a:r>
                        <a:rPr sz="900" b="0">
                          <a:solidFill>
                            <a:srgbClr val="202A38"/>
                          </a:solidFill>
                          <a:latin typeface="Arial"/>
                        </a:rPr>
                        <a:t>99.50%</a:t>
                      </a:r>
                    </a:p>
                  </a:txBody>
                  <a:tcPr>
                    <a:solidFill>
                      <a:srgbClr val="FFFFFF"/>
                    </a:solidFill>
                  </a:tcPr>
                </a:tc>
                <a:tc>
                  <a:txBody>
                    <a:bodyPr wrap="square"/>
                    <a:lstStyle/>
                    <a:p>
                      <a:pPr algn="ctr"/>
                      <a:r>
                        <a:rPr sz="900" b="0">
                          <a:solidFill>
                            <a:srgbClr val="202A38"/>
                          </a:solidFill>
                          <a:latin typeface="Arial"/>
                        </a:rPr>
                        <a:t>99.54%</a:t>
                      </a:r>
                    </a:p>
                  </a:txBody>
                  <a:tcPr>
                    <a:solidFill>
                      <a:srgbClr val="FFFFFF"/>
                    </a:solidFill>
                  </a:tcPr>
                </a:tc>
                <a:tc>
                  <a:txBody>
                    <a:bodyPr wrap="square"/>
                    <a:lstStyle/>
                    <a:p>
                      <a:pPr algn="ctr"/>
                      <a:r>
                        <a:rPr sz="900" b="0">
                          <a:solidFill>
                            <a:srgbClr val="202A38"/>
                          </a:solidFill>
                          <a:latin typeface="Arial"/>
                        </a:rPr>
                        <a:t>54.5</a:t>
                      </a:r>
                    </a:p>
                  </a:txBody>
                  <a:tcPr>
                    <a:solidFill>
                      <a:srgbClr val="FFFFFF"/>
                    </a:solidFill>
                  </a:tcPr>
                </a:tc>
              </a:tr>
              <a:tr h="480060">
                <a:tc>
                  <a:txBody>
                    <a:bodyPr wrap="square"/>
                    <a:lstStyle/>
                    <a:p>
                      <a:pPr algn="ctr"/>
                      <a:r>
                        <a:rPr sz="900" b="0">
                          <a:solidFill>
                            <a:srgbClr val="202A38"/>
                          </a:solidFill>
                          <a:latin typeface="Arial"/>
                        </a:rPr>
                        <a:t>Logistic Regression [C]</a:t>
                      </a:r>
                    </a:p>
                  </a:txBody>
                  <a:tcPr>
                    <a:solidFill>
                      <a:srgbClr val="FFFFFF"/>
                    </a:solidFill>
                  </a:tcPr>
                </a:tc>
                <a:tc>
                  <a:txBody>
                    <a:bodyPr wrap="square"/>
                    <a:lstStyle/>
                    <a:p>
                      <a:pPr algn="ctr"/>
                      <a:r>
                        <a:rPr sz="900" b="0">
                          <a:solidFill>
                            <a:srgbClr val="202A38"/>
                          </a:solidFill>
                          <a:latin typeface="Arial"/>
                        </a:rPr>
                        <a:t>Classical</a:t>
                      </a:r>
                    </a:p>
                  </a:txBody>
                  <a:tcPr>
                    <a:solidFill>
                      <a:srgbClr val="FFFFFF"/>
                    </a:solidFill>
                  </a:tcPr>
                </a:tc>
                <a:tc>
                  <a:txBody>
                    <a:bodyPr wrap="square"/>
                    <a:lstStyle/>
                    <a:p>
                      <a:pPr algn="ctr"/>
                      <a:r>
                        <a:rPr sz="900" b="0">
                          <a:solidFill>
                            <a:srgbClr val="202A38"/>
                          </a:solidFill>
                          <a:latin typeface="Arial"/>
                        </a:rPr>
                        <a:t>99.50%</a:t>
                      </a:r>
                    </a:p>
                  </a:txBody>
                  <a:tcPr>
                    <a:solidFill>
                      <a:srgbClr val="FFFFFF"/>
                    </a:solidFill>
                  </a:tcPr>
                </a:tc>
                <a:tc>
                  <a:txBody>
                    <a:bodyPr wrap="square"/>
                    <a:lstStyle/>
                    <a:p>
                      <a:pPr algn="ctr"/>
                      <a:r>
                        <a:rPr sz="900" b="0">
                          <a:solidFill>
                            <a:srgbClr val="202A38"/>
                          </a:solidFill>
                          <a:latin typeface="Arial"/>
                        </a:rPr>
                        <a:t>99.54%</a:t>
                      </a:r>
                    </a:p>
                  </a:txBody>
                  <a:tcPr>
                    <a:solidFill>
                      <a:srgbClr val="FFFFFF"/>
                    </a:solidFill>
                  </a:tcPr>
                </a:tc>
                <a:tc>
                  <a:txBody>
                    <a:bodyPr wrap="square"/>
                    <a:lstStyle/>
                    <a:p>
                      <a:pPr algn="ctr"/>
                      <a:r>
                        <a:rPr sz="900" b="0">
                          <a:solidFill>
                            <a:srgbClr val="202A38"/>
                          </a:solidFill>
                          <a:latin typeface="Arial"/>
                        </a:rPr>
                        <a:t>54.6</a:t>
                      </a:r>
                    </a:p>
                  </a:txBody>
                  <a:tcPr>
                    <a:solidFill>
                      <a:srgbClr val="FFFFFF"/>
                    </a:solidFill>
                  </a:tcPr>
                </a:tc>
              </a:tr>
              <a:tr h="480060">
                <a:tc>
                  <a:txBody>
                    <a:bodyPr wrap="square"/>
                    <a:lstStyle/>
                    <a:p>
                      <a:pPr algn="ctr"/>
                      <a:r>
                        <a:rPr sz="900" b="0">
                          <a:solidFill>
                            <a:srgbClr val="202A38"/>
                          </a:solidFill>
                          <a:latin typeface="Arial"/>
                        </a:rPr>
                        <a:t>MLP Classifier [C]</a:t>
                      </a:r>
                    </a:p>
                  </a:txBody>
                  <a:tcPr>
                    <a:solidFill>
                      <a:srgbClr val="FFFFFF"/>
                    </a:solidFill>
                  </a:tcPr>
                </a:tc>
                <a:tc>
                  <a:txBody>
                    <a:bodyPr wrap="square"/>
                    <a:lstStyle/>
                    <a:p>
                      <a:pPr algn="ctr"/>
                      <a:r>
                        <a:rPr sz="900" b="0">
                          <a:solidFill>
                            <a:srgbClr val="202A38"/>
                          </a:solidFill>
                          <a:latin typeface="Arial"/>
                        </a:rPr>
                        <a:t>Classical</a:t>
                      </a:r>
                    </a:p>
                  </a:txBody>
                  <a:tcPr>
                    <a:solidFill>
                      <a:srgbClr val="FFFFFF"/>
                    </a:solidFill>
                  </a:tcPr>
                </a:tc>
                <a:tc>
                  <a:txBody>
                    <a:bodyPr wrap="square"/>
                    <a:lstStyle/>
                    <a:p>
                      <a:pPr algn="ctr"/>
                      <a:r>
                        <a:rPr sz="900" b="0">
                          <a:solidFill>
                            <a:srgbClr val="202A38"/>
                          </a:solidFill>
                          <a:latin typeface="Arial"/>
                        </a:rPr>
                        <a:t>99.50%</a:t>
                      </a:r>
                    </a:p>
                  </a:txBody>
                  <a:tcPr>
                    <a:solidFill>
                      <a:srgbClr val="FFFFFF"/>
                    </a:solidFill>
                  </a:tcPr>
                </a:tc>
                <a:tc>
                  <a:txBody>
                    <a:bodyPr wrap="square"/>
                    <a:lstStyle/>
                    <a:p>
                      <a:pPr algn="ctr"/>
                      <a:r>
                        <a:rPr sz="900" b="0">
                          <a:solidFill>
                            <a:srgbClr val="202A38"/>
                          </a:solidFill>
                          <a:latin typeface="Arial"/>
                        </a:rPr>
                        <a:t>99.54%</a:t>
                      </a:r>
                    </a:p>
                  </a:txBody>
                  <a:tcPr>
                    <a:solidFill>
                      <a:srgbClr val="FFFFFF"/>
                    </a:solidFill>
                  </a:tcPr>
                </a:tc>
                <a:tc>
                  <a:txBody>
                    <a:bodyPr wrap="square"/>
                    <a:lstStyle/>
                    <a:p>
                      <a:pPr algn="ctr"/>
                      <a:r>
                        <a:rPr sz="900" b="0">
                          <a:solidFill>
                            <a:srgbClr val="202A38"/>
                          </a:solidFill>
                          <a:latin typeface="Arial"/>
                        </a:rPr>
                        <a:t>55.0</a:t>
                      </a:r>
                    </a:p>
                  </a:txBody>
                  <a:tcPr>
                    <a:solidFill>
                      <a:srgbClr val="FFFFFF"/>
                    </a:solidFill>
                  </a:tcPr>
                </a:tc>
              </a:tr>
              <a:tr h="480060">
                <a:tc>
                  <a:txBody>
                    <a:bodyPr wrap="square"/>
                    <a:lstStyle/>
                    <a:p>
                      <a:pPr algn="ctr"/>
                      <a:r>
                        <a:rPr sz="900" b="0">
                          <a:solidFill>
                            <a:srgbClr val="202A38"/>
                          </a:solidFill>
                          <a:latin typeface="Arial"/>
                        </a:rPr>
                        <a:t>QSVM Linear Amp [Q]</a:t>
                      </a:r>
                    </a:p>
                  </a:txBody>
                  <a:tcPr>
                    <a:solidFill>
                      <a:srgbClr val="FFFFFF"/>
                    </a:solidFill>
                  </a:tcPr>
                </a:tc>
                <a:tc>
                  <a:txBody>
                    <a:bodyPr wrap="square"/>
                    <a:lstStyle/>
                    <a:p>
                      <a:pPr algn="ctr"/>
                      <a:r>
                        <a:rPr sz="900" b="0">
                          <a:solidFill>
                            <a:srgbClr val="202A38"/>
                          </a:solidFill>
                          <a:latin typeface="Arial"/>
                        </a:rPr>
                        <a:t>Quantum</a:t>
                      </a:r>
                    </a:p>
                  </a:txBody>
                  <a:tcPr>
                    <a:solidFill>
                      <a:srgbClr val="FFFFFF"/>
                    </a:solidFill>
                  </a:tcPr>
                </a:tc>
                <a:tc>
                  <a:txBody>
                    <a:bodyPr wrap="square"/>
                    <a:lstStyle/>
                    <a:p>
                      <a:pPr algn="ctr"/>
                      <a:r>
                        <a:rPr sz="900" b="0">
                          <a:solidFill>
                            <a:srgbClr val="202A38"/>
                          </a:solidFill>
                          <a:latin typeface="Arial"/>
                        </a:rPr>
                        <a:t>99.50%</a:t>
                      </a:r>
                    </a:p>
                  </a:txBody>
                  <a:tcPr>
                    <a:solidFill>
                      <a:srgbClr val="FFFFFF"/>
                    </a:solidFill>
                  </a:tcPr>
                </a:tc>
                <a:tc>
                  <a:txBody>
                    <a:bodyPr wrap="square"/>
                    <a:lstStyle/>
                    <a:p>
                      <a:pPr algn="ctr"/>
                      <a:r>
                        <a:rPr sz="900" b="0">
                          <a:solidFill>
                            <a:srgbClr val="202A38"/>
                          </a:solidFill>
                          <a:latin typeface="Arial"/>
                        </a:rPr>
                        <a:t>99.54%</a:t>
                      </a:r>
                    </a:p>
                  </a:txBody>
                  <a:tcPr>
                    <a:solidFill>
                      <a:srgbClr val="FFFFFF"/>
                    </a:solidFill>
                  </a:tcPr>
                </a:tc>
                <a:tc>
                  <a:txBody>
                    <a:bodyPr wrap="square"/>
                    <a:lstStyle/>
                    <a:p>
                      <a:pPr algn="ctr"/>
                      <a:r>
                        <a:rPr sz="900" b="0">
                          <a:solidFill>
                            <a:srgbClr val="202A38"/>
                          </a:solidFill>
                          <a:latin typeface="Arial"/>
                        </a:rPr>
                        <a:t>519.2</a:t>
                      </a:r>
                    </a:p>
                  </a:txBody>
                  <a:tcPr>
                    <a:solidFill>
                      <a:srgbClr val="FFFFFF"/>
                    </a:solidFill>
                  </a:tcPr>
                </a:tc>
              </a:tr>
              <a:tr h="480060">
                <a:tc>
                  <a:txBody>
                    <a:bodyPr wrap="square"/>
                    <a:lstStyle/>
                    <a:p>
                      <a:pPr algn="ctr"/>
                      <a:r>
                        <a:rPr sz="900" b="0">
                          <a:solidFill>
                            <a:srgbClr val="202A38"/>
                          </a:solidFill>
                          <a:latin typeface="Arial"/>
                        </a:rPr>
                        <a:t>Random Forest [C]</a:t>
                      </a:r>
                    </a:p>
                  </a:txBody>
                  <a:tcPr>
                    <a:solidFill>
                      <a:srgbClr val="FFFFFF"/>
                    </a:solidFill>
                  </a:tcPr>
                </a:tc>
                <a:tc>
                  <a:txBody>
                    <a:bodyPr wrap="square"/>
                    <a:lstStyle/>
                    <a:p>
                      <a:pPr algn="ctr"/>
                      <a:r>
                        <a:rPr sz="900" b="0">
                          <a:solidFill>
                            <a:srgbClr val="202A38"/>
                          </a:solidFill>
                          <a:latin typeface="Arial"/>
                        </a:rPr>
                        <a:t>Classical</a:t>
                      </a:r>
                    </a:p>
                  </a:txBody>
                  <a:tcPr>
                    <a:solidFill>
                      <a:srgbClr val="FFFFFF"/>
                    </a:solidFill>
                  </a:tcPr>
                </a:tc>
                <a:tc>
                  <a:txBody>
                    <a:bodyPr wrap="square"/>
                    <a:lstStyle/>
                    <a:p>
                      <a:pPr algn="ctr"/>
                      <a:r>
                        <a:rPr sz="900" b="0">
                          <a:solidFill>
                            <a:srgbClr val="202A38"/>
                          </a:solidFill>
                          <a:latin typeface="Arial"/>
                        </a:rPr>
                        <a:t>99.00%</a:t>
                      </a:r>
                    </a:p>
                  </a:txBody>
                  <a:tcPr>
                    <a:solidFill>
                      <a:srgbClr val="FFFFFF"/>
                    </a:solidFill>
                  </a:tcPr>
                </a:tc>
                <a:tc>
                  <a:txBody>
                    <a:bodyPr wrap="square"/>
                    <a:lstStyle/>
                    <a:p>
                      <a:pPr algn="ctr"/>
                      <a:r>
                        <a:rPr sz="900" b="0">
                          <a:solidFill>
                            <a:srgbClr val="202A38"/>
                          </a:solidFill>
                          <a:latin typeface="Arial"/>
                        </a:rPr>
                        <a:t>99.09%</a:t>
                      </a:r>
                    </a:p>
                  </a:txBody>
                  <a:tcPr>
                    <a:solidFill>
                      <a:srgbClr val="FFFFFF"/>
                    </a:solidFill>
                  </a:tcPr>
                </a:tc>
                <a:tc>
                  <a:txBody>
                    <a:bodyPr wrap="square"/>
                    <a:lstStyle/>
                    <a:p>
                      <a:pPr algn="ctr"/>
                      <a:r>
                        <a:rPr sz="900" b="0">
                          <a:solidFill>
                            <a:srgbClr val="202A38"/>
                          </a:solidFill>
                          <a:latin typeface="Arial"/>
                        </a:rPr>
                        <a:t>61.9</a:t>
                      </a:r>
                    </a:p>
                  </a:txBody>
                  <a:tcPr>
                    <a:solidFill>
                      <a:srgbClr val="FFFFFF"/>
                    </a:solidFill>
                  </a:tcPr>
                </a:tc>
              </a:tr>
            </a:tbl>
          </a:graphicData>
        </a:graphic>
      </p:graphicFrame>
      <p:graphicFrame>
        <p:nvGraphicFramePr>
          <p:cNvPr id="9" name="Table 8"/>
          <p:cNvGraphicFramePr>
            <a:graphicFrameLocks noGrp="1"/>
          </p:cNvGraphicFramePr>
          <p:nvPr/>
        </p:nvGraphicFramePr>
        <p:xfrm>
          <a:off x="6199632" y="1828800"/>
          <a:ext cx="5486400" cy="2880360"/>
        </p:xfrm>
        <a:graphic>
          <a:graphicData uri="http://schemas.openxmlformats.org/drawingml/2006/table">
            <a:tbl>
              <a:tblPr firstRow="1" bandRow="1">
                <a:tableStyleId>{5C22544A-7EE6-4342-B048-85BDC9FD1C3A}</a:tableStyleId>
              </a:tblPr>
              <a:tblGrid>
                <a:gridCol w="1097280"/>
                <a:gridCol w="1097280"/>
                <a:gridCol w="1097280"/>
                <a:gridCol w="1097280"/>
                <a:gridCol w="1097280"/>
              </a:tblGrid>
              <a:tr h="480060">
                <a:tc>
                  <a:txBody>
                    <a:bodyPr wrap="square"/>
                    <a:lstStyle/>
                    <a:p>
                      <a:pPr algn="ctr"/>
                      <a:r>
                        <a:rPr sz="950" b="1">
                          <a:solidFill>
                            <a:srgbClr val="FFFFFF"/>
                          </a:solidFill>
                          <a:latin typeface="Arial"/>
                        </a:rPr>
                        <a:t>Model</a:t>
                      </a:r>
                    </a:p>
                  </a:txBody>
                  <a:tcPr>
                    <a:solidFill>
                      <a:srgbClr val="142444"/>
                    </a:solidFill>
                  </a:tcPr>
                </a:tc>
                <a:tc>
                  <a:txBody>
                    <a:bodyPr wrap="square"/>
                    <a:lstStyle/>
                    <a:p>
                      <a:pPr algn="ctr"/>
                      <a:r>
                        <a:rPr sz="950" b="1">
                          <a:solidFill>
                            <a:srgbClr val="FFFFFF"/>
                          </a:solidFill>
                          <a:latin typeface="Arial"/>
                        </a:rPr>
                        <a:t>Family</a:t>
                      </a:r>
                    </a:p>
                  </a:txBody>
                  <a:tcPr>
                    <a:solidFill>
                      <a:srgbClr val="142444"/>
                    </a:solidFill>
                  </a:tcPr>
                </a:tc>
                <a:tc>
                  <a:txBody>
                    <a:bodyPr wrap="square"/>
                    <a:lstStyle/>
                    <a:p>
                      <a:pPr algn="ctr"/>
                      <a:r>
                        <a:rPr sz="950" b="1">
                          <a:solidFill>
                            <a:srgbClr val="FFFFFF"/>
                          </a:solidFill>
                          <a:latin typeface="Arial"/>
                        </a:rPr>
                        <a:t>Accuracy</a:t>
                      </a:r>
                    </a:p>
                  </a:txBody>
                  <a:tcPr>
                    <a:solidFill>
                      <a:srgbClr val="142444"/>
                    </a:solidFill>
                  </a:tcPr>
                </a:tc>
                <a:tc>
                  <a:txBody>
                    <a:bodyPr wrap="square"/>
                    <a:lstStyle/>
                    <a:p>
                      <a:pPr algn="ctr"/>
                      <a:r>
                        <a:rPr sz="950" b="1">
                          <a:solidFill>
                            <a:srgbClr val="FFFFFF"/>
                          </a:solidFill>
                          <a:latin typeface="Arial"/>
                        </a:rPr>
                        <a:t>Macro F1</a:t>
                      </a:r>
                    </a:p>
                  </a:txBody>
                  <a:tcPr>
                    <a:solidFill>
                      <a:srgbClr val="142444"/>
                    </a:solidFill>
                  </a:tcPr>
                </a:tc>
                <a:tc>
                  <a:txBody>
                    <a:bodyPr wrap="square"/>
                    <a:lstStyle/>
                    <a:p>
                      <a:pPr algn="ctr"/>
                      <a:r>
                        <a:rPr sz="950" b="1">
                          <a:solidFill>
                            <a:srgbClr val="FFFFFF"/>
                          </a:solidFill>
                          <a:latin typeface="Arial"/>
                        </a:rPr>
                        <a:t>Train Time (s)</a:t>
                      </a:r>
                    </a:p>
                  </a:txBody>
                  <a:tcPr>
                    <a:solidFill>
                      <a:srgbClr val="142444"/>
                    </a:solidFill>
                  </a:tcPr>
                </a:tc>
              </a:tr>
              <a:tr h="480060">
                <a:tc>
                  <a:txBody>
                    <a:bodyPr wrap="square"/>
                    <a:lstStyle/>
                    <a:p>
                      <a:pPr algn="ctr"/>
                      <a:r>
                        <a:rPr sz="900" b="0">
                          <a:solidFill>
                            <a:srgbClr val="202A38"/>
                          </a:solidFill>
                          <a:latin typeface="Arial"/>
                        </a:rPr>
                        <a:t>QSVM Pauli [Q]</a:t>
                      </a:r>
                    </a:p>
                  </a:txBody>
                  <a:tcPr>
                    <a:solidFill>
                      <a:srgbClr val="FFFFFF"/>
                    </a:solidFill>
                  </a:tcPr>
                </a:tc>
                <a:tc>
                  <a:txBody>
                    <a:bodyPr wrap="square"/>
                    <a:lstStyle/>
                    <a:p>
                      <a:pPr algn="ctr"/>
                      <a:r>
                        <a:rPr sz="900" b="0">
                          <a:solidFill>
                            <a:srgbClr val="202A38"/>
                          </a:solidFill>
                          <a:latin typeface="Arial"/>
                        </a:rPr>
                        <a:t>Quantum</a:t>
                      </a:r>
                    </a:p>
                  </a:txBody>
                  <a:tcPr>
                    <a:solidFill>
                      <a:srgbClr val="FFFFFF"/>
                    </a:solidFill>
                  </a:tcPr>
                </a:tc>
                <a:tc>
                  <a:txBody>
                    <a:bodyPr wrap="square"/>
                    <a:lstStyle/>
                    <a:p>
                      <a:pPr algn="ctr"/>
                      <a:r>
                        <a:rPr sz="900" b="0">
                          <a:solidFill>
                            <a:srgbClr val="202A38"/>
                          </a:solidFill>
                          <a:latin typeface="Arial"/>
                        </a:rPr>
                        <a:t>90.00%</a:t>
                      </a:r>
                    </a:p>
                  </a:txBody>
                  <a:tcPr>
                    <a:solidFill>
                      <a:srgbClr val="FFFFFF"/>
                    </a:solidFill>
                  </a:tcPr>
                </a:tc>
                <a:tc>
                  <a:txBody>
                    <a:bodyPr wrap="square"/>
                    <a:lstStyle/>
                    <a:p>
                      <a:pPr algn="ctr"/>
                      <a:r>
                        <a:rPr sz="900" b="0">
                          <a:solidFill>
                            <a:srgbClr val="202A38"/>
                          </a:solidFill>
                          <a:latin typeface="Arial"/>
                        </a:rPr>
                        <a:t>89.91%</a:t>
                      </a:r>
                    </a:p>
                  </a:txBody>
                  <a:tcPr>
                    <a:solidFill>
                      <a:srgbClr val="FFFFFF"/>
                    </a:solidFill>
                  </a:tcPr>
                </a:tc>
                <a:tc>
                  <a:txBody>
                    <a:bodyPr wrap="square"/>
                    <a:lstStyle/>
                    <a:p>
                      <a:pPr algn="ctr"/>
                      <a:r>
                        <a:rPr sz="900" b="0">
                          <a:solidFill>
                            <a:srgbClr val="202A38"/>
                          </a:solidFill>
                          <a:latin typeface="Arial"/>
                        </a:rPr>
                        <a:t>513.7</a:t>
                      </a:r>
                    </a:p>
                  </a:txBody>
                  <a:tcPr>
                    <a:solidFill>
                      <a:srgbClr val="FFFFFF"/>
                    </a:solidFill>
                  </a:tcPr>
                </a:tc>
              </a:tr>
              <a:tr h="480060">
                <a:tc>
                  <a:txBody>
                    <a:bodyPr wrap="square"/>
                    <a:lstStyle/>
                    <a:p>
                      <a:pPr algn="ctr"/>
                      <a:r>
                        <a:rPr sz="900" b="0">
                          <a:solidFill>
                            <a:srgbClr val="202A38"/>
                          </a:solidFill>
                          <a:latin typeface="Arial"/>
                        </a:rPr>
                        <a:t>QSVM Linear Angle [Q]</a:t>
                      </a:r>
                    </a:p>
                  </a:txBody>
                  <a:tcPr>
                    <a:solidFill>
                      <a:srgbClr val="FFFFFF"/>
                    </a:solidFill>
                  </a:tcPr>
                </a:tc>
                <a:tc>
                  <a:txBody>
                    <a:bodyPr wrap="square"/>
                    <a:lstStyle/>
                    <a:p>
                      <a:pPr algn="ctr"/>
                      <a:r>
                        <a:rPr sz="900" b="0">
                          <a:solidFill>
                            <a:srgbClr val="202A38"/>
                          </a:solidFill>
                          <a:latin typeface="Arial"/>
                        </a:rPr>
                        <a:t>Quantum</a:t>
                      </a:r>
                    </a:p>
                  </a:txBody>
                  <a:tcPr>
                    <a:solidFill>
                      <a:srgbClr val="FFFFFF"/>
                    </a:solidFill>
                  </a:tcPr>
                </a:tc>
                <a:tc>
                  <a:txBody>
                    <a:bodyPr wrap="square"/>
                    <a:lstStyle/>
                    <a:p>
                      <a:pPr algn="ctr"/>
                      <a:r>
                        <a:rPr sz="900" b="0">
                          <a:solidFill>
                            <a:srgbClr val="202A38"/>
                          </a:solidFill>
                          <a:latin typeface="Arial"/>
                        </a:rPr>
                        <a:t>81.00%</a:t>
                      </a:r>
                    </a:p>
                  </a:txBody>
                  <a:tcPr>
                    <a:solidFill>
                      <a:srgbClr val="FFFFFF"/>
                    </a:solidFill>
                  </a:tcPr>
                </a:tc>
                <a:tc>
                  <a:txBody>
                    <a:bodyPr wrap="square"/>
                    <a:lstStyle/>
                    <a:p>
                      <a:pPr algn="ctr"/>
                      <a:r>
                        <a:rPr sz="900" b="0">
                          <a:solidFill>
                            <a:srgbClr val="202A38"/>
                          </a:solidFill>
                          <a:latin typeface="Arial"/>
                        </a:rPr>
                        <a:t>81.34%</a:t>
                      </a:r>
                    </a:p>
                  </a:txBody>
                  <a:tcPr>
                    <a:solidFill>
                      <a:srgbClr val="FFFFFF"/>
                    </a:solidFill>
                  </a:tcPr>
                </a:tc>
                <a:tc>
                  <a:txBody>
                    <a:bodyPr wrap="square"/>
                    <a:lstStyle/>
                    <a:p>
                      <a:pPr algn="ctr"/>
                      <a:r>
                        <a:rPr sz="900" b="0">
                          <a:solidFill>
                            <a:srgbClr val="202A38"/>
                          </a:solidFill>
                          <a:latin typeface="Arial"/>
                        </a:rPr>
                        <a:t>468.1</a:t>
                      </a:r>
                    </a:p>
                  </a:txBody>
                  <a:tcPr>
                    <a:solidFill>
                      <a:srgbClr val="FFFFFF"/>
                    </a:solidFill>
                  </a:tcPr>
                </a:tc>
              </a:tr>
              <a:tr h="480060">
                <a:tc>
                  <a:txBody>
                    <a:bodyPr wrap="square"/>
                    <a:lstStyle/>
                    <a:p>
                      <a:pPr algn="ctr"/>
                      <a:r>
                        <a:rPr sz="900" b="0">
                          <a:solidFill>
                            <a:srgbClr val="202A38"/>
                          </a:solidFill>
                          <a:latin typeface="Arial"/>
                        </a:rPr>
                        <a:t>QSVM Full Angle [Q]</a:t>
                      </a:r>
                    </a:p>
                  </a:txBody>
                  <a:tcPr>
                    <a:solidFill>
                      <a:srgbClr val="FFFFFF"/>
                    </a:solidFill>
                  </a:tcPr>
                </a:tc>
                <a:tc>
                  <a:txBody>
                    <a:bodyPr wrap="square"/>
                    <a:lstStyle/>
                    <a:p>
                      <a:pPr algn="ctr"/>
                      <a:r>
                        <a:rPr sz="900" b="0">
                          <a:solidFill>
                            <a:srgbClr val="202A38"/>
                          </a:solidFill>
                          <a:latin typeface="Arial"/>
                        </a:rPr>
                        <a:t>Quantum</a:t>
                      </a:r>
                    </a:p>
                  </a:txBody>
                  <a:tcPr>
                    <a:solidFill>
                      <a:srgbClr val="FFFFFF"/>
                    </a:solidFill>
                  </a:tcPr>
                </a:tc>
                <a:tc>
                  <a:txBody>
                    <a:bodyPr wrap="square"/>
                    <a:lstStyle/>
                    <a:p>
                      <a:pPr algn="ctr"/>
                      <a:r>
                        <a:rPr sz="900" b="0">
                          <a:solidFill>
                            <a:srgbClr val="202A38"/>
                          </a:solidFill>
                          <a:latin typeface="Arial"/>
                        </a:rPr>
                        <a:t>74.50%</a:t>
                      </a:r>
                    </a:p>
                  </a:txBody>
                  <a:tcPr>
                    <a:solidFill>
                      <a:srgbClr val="FFFFFF"/>
                    </a:solidFill>
                  </a:tcPr>
                </a:tc>
                <a:tc>
                  <a:txBody>
                    <a:bodyPr wrap="square"/>
                    <a:lstStyle/>
                    <a:p>
                      <a:pPr algn="ctr"/>
                      <a:r>
                        <a:rPr sz="900" b="0">
                          <a:solidFill>
                            <a:srgbClr val="202A38"/>
                          </a:solidFill>
                          <a:latin typeface="Arial"/>
                        </a:rPr>
                        <a:t>74.54%</a:t>
                      </a:r>
                    </a:p>
                  </a:txBody>
                  <a:tcPr>
                    <a:solidFill>
                      <a:srgbClr val="FFFFFF"/>
                    </a:solidFill>
                  </a:tcPr>
                </a:tc>
                <a:tc>
                  <a:txBody>
                    <a:bodyPr wrap="square"/>
                    <a:lstStyle/>
                    <a:p>
                      <a:pPr algn="ctr"/>
                      <a:r>
                        <a:rPr sz="900" b="0">
                          <a:solidFill>
                            <a:srgbClr val="202A38"/>
                          </a:solidFill>
                          <a:latin typeface="Arial"/>
                        </a:rPr>
                        <a:t>920.4</a:t>
                      </a:r>
                    </a:p>
                  </a:txBody>
                  <a:tcPr>
                    <a:solidFill>
                      <a:srgbClr val="FFFFFF"/>
                    </a:solidFill>
                  </a:tcPr>
                </a:tc>
              </a:tr>
              <a:tr h="480060">
                <a:tc>
                  <a:txBody>
                    <a:bodyPr wrap="square"/>
                    <a:lstStyle/>
                    <a:p>
                      <a:pPr algn="ctr"/>
                      <a:r>
                        <a:rPr sz="900" b="0">
                          <a:solidFill>
                            <a:srgbClr val="202A38"/>
                          </a:solidFill>
                          <a:latin typeface="Arial"/>
                        </a:rPr>
                        <a:t>VQC RealAmp [Q]</a:t>
                      </a:r>
                    </a:p>
                  </a:txBody>
                  <a:tcPr>
                    <a:solidFill>
                      <a:srgbClr val="FFFFFF"/>
                    </a:solidFill>
                  </a:tcPr>
                </a:tc>
                <a:tc>
                  <a:txBody>
                    <a:bodyPr wrap="square"/>
                    <a:lstStyle/>
                    <a:p>
                      <a:pPr algn="ctr"/>
                      <a:r>
                        <a:rPr sz="900" b="0">
                          <a:solidFill>
                            <a:srgbClr val="202A38"/>
                          </a:solidFill>
                          <a:latin typeface="Arial"/>
                        </a:rPr>
                        <a:t>Quantum</a:t>
                      </a:r>
                    </a:p>
                  </a:txBody>
                  <a:tcPr>
                    <a:solidFill>
                      <a:srgbClr val="FFFFFF"/>
                    </a:solidFill>
                  </a:tcPr>
                </a:tc>
                <a:tc>
                  <a:txBody>
                    <a:bodyPr wrap="square"/>
                    <a:lstStyle/>
                    <a:p>
                      <a:pPr algn="ctr"/>
                      <a:r>
                        <a:rPr sz="900" b="0">
                          <a:solidFill>
                            <a:srgbClr val="202A38"/>
                          </a:solidFill>
                          <a:latin typeface="Arial"/>
                        </a:rPr>
                        <a:t>44.00%</a:t>
                      </a:r>
                    </a:p>
                  </a:txBody>
                  <a:tcPr>
                    <a:solidFill>
                      <a:srgbClr val="FFFFFF"/>
                    </a:solidFill>
                  </a:tcPr>
                </a:tc>
                <a:tc>
                  <a:txBody>
                    <a:bodyPr wrap="square"/>
                    <a:lstStyle/>
                    <a:p>
                      <a:pPr algn="ctr"/>
                      <a:r>
                        <a:rPr sz="900" b="0">
                          <a:solidFill>
                            <a:srgbClr val="202A38"/>
                          </a:solidFill>
                          <a:latin typeface="Arial"/>
                        </a:rPr>
                        <a:t>43.48%</a:t>
                      </a:r>
                    </a:p>
                  </a:txBody>
                  <a:tcPr>
                    <a:solidFill>
                      <a:srgbClr val="FFFFFF"/>
                    </a:solidFill>
                  </a:tcPr>
                </a:tc>
                <a:tc>
                  <a:txBody>
                    <a:bodyPr wrap="square"/>
                    <a:lstStyle/>
                    <a:p>
                      <a:pPr algn="ctr"/>
                      <a:r>
                        <a:rPr sz="900" b="0">
                          <a:solidFill>
                            <a:srgbClr val="202A38"/>
                          </a:solidFill>
                          <a:latin typeface="Arial"/>
                        </a:rPr>
                        <a:t>131.3</a:t>
                      </a:r>
                    </a:p>
                  </a:txBody>
                  <a:tcPr>
                    <a:solidFill>
                      <a:srgbClr val="FFFFFF"/>
                    </a:solidFill>
                  </a:tcPr>
                </a:tc>
              </a:tr>
              <a:tr h="480060">
                <a:tc>
                  <a:txBody>
                    <a:bodyPr wrap="square"/>
                    <a:lstStyle/>
                    <a:p>
                      <a:pPr algn="ctr"/>
                      <a:r>
                        <a:rPr sz="900" b="0">
                          <a:solidFill>
                            <a:srgbClr val="202A38"/>
                          </a:solidFill>
                          <a:latin typeface="Arial"/>
                        </a:rPr>
                        <a:t>VQC EfficientSU2 [Q]</a:t>
                      </a:r>
                    </a:p>
                  </a:txBody>
                  <a:tcPr>
                    <a:solidFill>
                      <a:srgbClr val="FFFFFF"/>
                    </a:solidFill>
                  </a:tcPr>
                </a:tc>
                <a:tc>
                  <a:txBody>
                    <a:bodyPr wrap="square"/>
                    <a:lstStyle/>
                    <a:p>
                      <a:pPr algn="ctr"/>
                      <a:r>
                        <a:rPr sz="900" b="0">
                          <a:solidFill>
                            <a:srgbClr val="202A38"/>
                          </a:solidFill>
                          <a:latin typeface="Arial"/>
                        </a:rPr>
                        <a:t>Quantum</a:t>
                      </a:r>
                    </a:p>
                  </a:txBody>
                  <a:tcPr>
                    <a:solidFill>
                      <a:srgbClr val="FFFFFF"/>
                    </a:solidFill>
                  </a:tcPr>
                </a:tc>
                <a:tc>
                  <a:txBody>
                    <a:bodyPr wrap="square"/>
                    <a:lstStyle/>
                    <a:p>
                      <a:pPr algn="ctr"/>
                      <a:r>
                        <a:rPr sz="900" b="0">
                          <a:solidFill>
                            <a:srgbClr val="202A38"/>
                          </a:solidFill>
                          <a:latin typeface="Arial"/>
                        </a:rPr>
                        <a:t>43.00%</a:t>
                      </a:r>
                    </a:p>
                  </a:txBody>
                  <a:tcPr>
                    <a:solidFill>
                      <a:srgbClr val="FFFFFF"/>
                    </a:solidFill>
                  </a:tcPr>
                </a:tc>
                <a:tc>
                  <a:txBody>
                    <a:bodyPr wrap="square"/>
                    <a:lstStyle/>
                    <a:p>
                      <a:pPr algn="ctr"/>
                      <a:r>
                        <a:rPr sz="900" b="0">
                          <a:solidFill>
                            <a:srgbClr val="202A38"/>
                          </a:solidFill>
                          <a:latin typeface="Arial"/>
                        </a:rPr>
                        <a:t>42.99%</a:t>
                      </a:r>
                    </a:p>
                  </a:txBody>
                  <a:tcPr>
                    <a:solidFill>
                      <a:srgbClr val="FFFFFF"/>
                    </a:solidFill>
                  </a:tcPr>
                </a:tc>
                <a:tc>
                  <a:txBody>
                    <a:bodyPr wrap="square"/>
                    <a:lstStyle/>
                    <a:p>
                      <a:pPr algn="ctr"/>
                      <a:r>
                        <a:rPr sz="900" b="0">
                          <a:solidFill>
                            <a:srgbClr val="202A38"/>
                          </a:solidFill>
                          <a:latin typeface="Arial"/>
                        </a:rPr>
                        <a:t>141.9</a:t>
                      </a:r>
                    </a:p>
                  </a:txBody>
                  <a:tcPr>
                    <a:solidFill>
                      <a:srgbClr val="FFFFFF"/>
                    </a:solidFill>
                  </a:tcPr>
                </a:tc>
              </a:tr>
            </a:tbl>
          </a:graphicData>
        </a:graphic>
      </p:graphicFrame>
      <p:sp>
        <p:nvSpPr>
          <p:cNvPr id="10" name="Rounded Rectangle 9"/>
          <p:cNvSpPr/>
          <p:nvPr/>
        </p:nvSpPr>
        <p:spPr>
          <a:xfrm>
            <a:off x="640080" y="498348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983480"/>
            <a:ext cx="91440" cy="960120"/>
          </a:xfrm>
          <a:prstGeom prst="rect">
            <a:avLst/>
          </a:prstGeom>
          <a:solidFill>
            <a:srgbClr val="2271B3"/>
          </a:solidFill>
          <a:ln>
            <a:solidFill>
              <a:srgbClr val="2271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093208"/>
            <a:ext cx="1645920" cy="182880"/>
          </a:xfrm>
          <a:prstGeom prst="rect">
            <a:avLst/>
          </a:prstGeom>
          <a:noFill/>
        </p:spPr>
        <p:txBody>
          <a:bodyPr wrap="none">
            <a:spAutoFit/>
          </a:bodyPr>
          <a:lstStyle/>
          <a:p>
            <a:r>
              <a:rPr sz="1000">
                <a:solidFill>
                  <a:srgbClr val="586478"/>
                </a:solidFill>
                <a:latin typeface="Arial"/>
              </a:rPr>
              <a:t>Best Classical</a:t>
            </a:r>
          </a:p>
        </p:txBody>
      </p:sp>
      <p:sp>
        <p:nvSpPr>
          <p:cNvPr id="13" name="TextBox 12"/>
          <p:cNvSpPr txBox="1"/>
          <p:nvPr/>
        </p:nvSpPr>
        <p:spPr>
          <a:xfrm>
            <a:off x="804672" y="5294376"/>
            <a:ext cx="1645920" cy="310896"/>
          </a:xfrm>
          <a:prstGeom prst="rect">
            <a:avLst/>
          </a:prstGeom>
          <a:noFill/>
        </p:spPr>
        <p:txBody>
          <a:bodyPr wrap="none">
            <a:spAutoFit/>
          </a:bodyPr>
          <a:lstStyle/>
          <a:p>
            <a:r>
              <a:rPr b="1" sz="1900">
                <a:solidFill>
                  <a:srgbClr val="0D182E"/>
                </a:solidFill>
                <a:latin typeface="Arial"/>
              </a:rPr>
              <a:t>Classical SVM</a:t>
            </a:r>
          </a:p>
        </p:txBody>
      </p:sp>
      <p:sp>
        <p:nvSpPr>
          <p:cNvPr id="14" name="TextBox 13"/>
          <p:cNvSpPr txBox="1"/>
          <p:nvPr/>
        </p:nvSpPr>
        <p:spPr>
          <a:xfrm>
            <a:off x="804672" y="5623560"/>
            <a:ext cx="1645920" cy="164592"/>
          </a:xfrm>
          <a:prstGeom prst="rect">
            <a:avLst/>
          </a:prstGeom>
          <a:noFill/>
        </p:spPr>
        <p:txBody>
          <a:bodyPr wrap="none">
            <a:spAutoFit/>
          </a:bodyPr>
          <a:lstStyle/>
          <a:p>
            <a:r>
              <a:rPr sz="850">
                <a:solidFill>
                  <a:srgbClr val="586478"/>
                </a:solidFill>
                <a:latin typeface="Arial"/>
              </a:rPr>
              <a:t>99.50%</a:t>
            </a:r>
          </a:p>
        </p:txBody>
      </p:sp>
      <p:sp>
        <p:nvSpPr>
          <p:cNvPr id="15" name="Rounded Rectangle 14"/>
          <p:cNvSpPr/>
          <p:nvPr/>
        </p:nvSpPr>
        <p:spPr>
          <a:xfrm>
            <a:off x="2880360" y="498348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80360" y="4983480"/>
            <a:ext cx="91440" cy="960120"/>
          </a:xfrm>
          <a:prstGeom prst="rect">
            <a:avLst/>
          </a:prstGeom>
          <a:solidFill>
            <a:srgbClr val="7A4DC4"/>
          </a:solidFill>
          <a:ln>
            <a:solidFill>
              <a:srgbClr val="7A4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44952" y="5093208"/>
            <a:ext cx="1645920" cy="182880"/>
          </a:xfrm>
          <a:prstGeom prst="rect">
            <a:avLst/>
          </a:prstGeom>
          <a:noFill/>
        </p:spPr>
        <p:txBody>
          <a:bodyPr wrap="none">
            <a:spAutoFit/>
          </a:bodyPr>
          <a:lstStyle/>
          <a:p>
            <a:r>
              <a:rPr sz="1000">
                <a:solidFill>
                  <a:srgbClr val="586478"/>
                </a:solidFill>
                <a:latin typeface="Arial"/>
              </a:rPr>
              <a:t>Best Quantum</a:t>
            </a:r>
          </a:p>
        </p:txBody>
      </p:sp>
      <p:sp>
        <p:nvSpPr>
          <p:cNvPr id="18" name="TextBox 17"/>
          <p:cNvSpPr txBox="1"/>
          <p:nvPr/>
        </p:nvSpPr>
        <p:spPr>
          <a:xfrm>
            <a:off x="3044952" y="5294376"/>
            <a:ext cx="1645920" cy="310896"/>
          </a:xfrm>
          <a:prstGeom prst="rect">
            <a:avLst/>
          </a:prstGeom>
          <a:noFill/>
        </p:spPr>
        <p:txBody>
          <a:bodyPr wrap="none">
            <a:spAutoFit/>
          </a:bodyPr>
          <a:lstStyle/>
          <a:p>
            <a:r>
              <a:rPr b="1" sz="1900">
                <a:solidFill>
                  <a:srgbClr val="0D182E"/>
                </a:solidFill>
                <a:latin typeface="Arial"/>
              </a:rPr>
              <a:t>QSVM Linear Amp</a:t>
            </a:r>
          </a:p>
        </p:txBody>
      </p:sp>
      <p:sp>
        <p:nvSpPr>
          <p:cNvPr id="19" name="TextBox 18"/>
          <p:cNvSpPr txBox="1"/>
          <p:nvPr/>
        </p:nvSpPr>
        <p:spPr>
          <a:xfrm>
            <a:off x="3044952" y="5623560"/>
            <a:ext cx="1645920" cy="164592"/>
          </a:xfrm>
          <a:prstGeom prst="rect">
            <a:avLst/>
          </a:prstGeom>
          <a:noFill/>
        </p:spPr>
        <p:txBody>
          <a:bodyPr wrap="none">
            <a:spAutoFit/>
          </a:bodyPr>
          <a:lstStyle/>
          <a:p>
            <a:r>
              <a:rPr sz="850">
                <a:solidFill>
                  <a:srgbClr val="586478"/>
                </a:solidFill>
                <a:latin typeface="Arial"/>
              </a:rPr>
              <a:t>99.50%</a:t>
            </a:r>
          </a:p>
        </p:txBody>
      </p:sp>
      <p:sp>
        <p:nvSpPr>
          <p:cNvPr id="20" name="Rounded Rectangle 19"/>
          <p:cNvSpPr/>
          <p:nvPr/>
        </p:nvSpPr>
        <p:spPr>
          <a:xfrm>
            <a:off x="5120640" y="4983480"/>
            <a:ext cx="2011680" cy="96012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983480"/>
            <a:ext cx="91440" cy="960120"/>
          </a:xfrm>
          <a:prstGeom prst="rect">
            <a:avLst/>
          </a:prstGeom>
          <a:solidFill>
            <a:srgbClr val="008071"/>
          </a:solidFill>
          <a:ln>
            <a:solidFill>
              <a:srgbClr val="0080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85232" y="5093208"/>
            <a:ext cx="1645920" cy="182880"/>
          </a:xfrm>
          <a:prstGeom prst="rect">
            <a:avLst/>
          </a:prstGeom>
          <a:noFill/>
        </p:spPr>
        <p:txBody>
          <a:bodyPr wrap="none">
            <a:spAutoFit/>
          </a:bodyPr>
          <a:lstStyle/>
          <a:p>
            <a:r>
              <a:rPr sz="1000">
                <a:solidFill>
                  <a:srgbClr val="586478"/>
                </a:solidFill>
                <a:latin typeface="Arial"/>
              </a:rPr>
              <a:t>Family Average</a:t>
            </a:r>
          </a:p>
        </p:txBody>
      </p:sp>
      <p:sp>
        <p:nvSpPr>
          <p:cNvPr id="23" name="TextBox 22"/>
          <p:cNvSpPr txBox="1"/>
          <p:nvPr/>
        </p:nvSpPr>
        <p:spPr>
          <a:xfrm>
            <a:off x="5285232" y="5294376"/>
            <a:ext cx="1645920" cy="310896"/>
          </a:xfrm>
          <a:prstGeom prst="rect">
            <a:avLst/>
          </a:prstGeom>
          <a:noFill/>
        </p:spPr>
        <p:txBody>
          <a:bodyPr wrap="none">
            <a:spAutoFit/>
          </a:bodyPr>
          <a:lstStyle/>
          <a:p>
            <a:r>
              <a:rPr b="1" sz="1900">
                <a:solidFill>
                  <a:srgbClr val="0D182E"/>
                </a:solidFill>
                <a:latin typeface="Arial"/>
              </a:rPr>
              <a:t>C 99.38%</a:t>
            </a:r>
          </a:p>
        </p:txBody>
      </p:sp>
      <p:sp>
        <p:nvSpPr>
          <p:cNvPr id="24" name="TextBox 23"/>
          <p:cNvSpPr txBox="1"/>
          <p:nvPr/>
        </p:nvSpPr>
        <p:spPr>
          <a:xfrm>
            <a:off x="5285232" y="5623560"/>
            <a:ext cx="1645920" cy="164592"/>
          </a:xfrm>
          <a:prstGeom prst="rect">
            <a:avLst/>
          </a:prstGeom>
          <a:noFill/>
        </p:spPr>
        <p:txBody>
          <a:bodyPr wrap="none">
            <a:spAutoFit/>
          </a:bodyPr>
          <a:lstStyle/>
          <a:p>
            <a:r>
              <a:rPr sz="850">
                <a:solidFill>
                  <a:srgbClr val="586478"/>
                </a:solidFill>
                <a:latin typeface="Arial"/>
              </a:rPr>
              <a:t>Q 72.00%</a:t>
            </a:r>
          </a:p>
        </p:txBody>
      </p:sp>
      <p:sp>
        <p:nvSpPr>
          <p:cNvPr id="25" name="Rounded Rectangle 24"/>
          <p:cNvSpPr/>
          <p:nvPr/>
        </p:nvSpPr>
        <p:spPr>
          <a:xfrm>
            <a:off x="7406640" y="4828032"/>
            <a:ext cx="4160520" cy="1417320"/>
          </a:xfrm>
          <a:prstGeom prst="roundRect">
            <a:avLst/>
          </a:prstGeom>
          <a:solidFill>
            <a:srgbClr val="EAF2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4901184"/>
            <a:ext cx="3886200" cy="228600"/>
          </a:xfrm>
          <a:prstGeom prst="rect">
            <a:avLst/>
          </a:prstGeom>
          <a:noFill/>
        </p:spPr>
        <p:txBody>
          <a:bodyPr wrap="none">
            <a:spAutoFit/>
          </a:bodyPr>
          <a:lstStyle/>
          <a:p>
            <a:r>
              <a:rPr b="1" sz="1400">
                <a:solidFill>
                  <a:srgbClr val="142444"/>
                </a:solidFill>
                <a:latin typeface="Arial"/>
              </a:rPr>
              <a:t>Recommendation</a:t>
            </a:r>
          </a:p>
        </p:txBody>
      </p:sp>
      <p:sp>
        <p:nvSpPr>
          <p:cNvPr id="27" name="TextBox 26"/>
          <p:cNvSpPr txBox="1"/>
          <p:nvPr/>
        </p:nvSpPr>
        <p:spPr>
          <a:xfrm>
            <a:off x="7516368" y="5239512"/>
            <a:ext cx="3941064" cy="941832"/>
          </a:xfrm>
          <a:prstGeom prst="rect">
            <a:avLst/>
          </a:prstGeom>
          <a:noFill/>
        </p:spPr>
        <p:txBody>
          <a:bodyPr wrap="square" lIns="101600" rIns="50800">
            <a:spAutoFit/>
          </a:bodyPr>
          <a:lstStyle/>
          <a:p>
            <a:pPr>
              <a:spcAft>
                <a:spcPts val="500"/>
              </a:spcAft>
              <a:defRPr sz="1200">
                <a:solidFill>
                  <a:srgbClr val="202A38"/>
                </a:solidFill>
                <a:latin typeface="Arial"/>
              </a:defRPr>
            </a:pPr>
            <a:r>
              <a:t>Production recommendation: YOLO + Classical SVM (RBF) + OCR ensemble</a:t>
            </a:r>
          </a:p>
          <a:p>
            <a:pPr>
              <a:spcAft>
                <a:spcPts val="500"/>
              </a:spcAft>
              <a:defRPr sz="1200">
                <a:solidFill>
                  <a:srgbClr val="202A38"/>
                </a:solidFill>
                <a:latin typeface="Arial"/>
              </a:defRPr>
            </a:pPr>
            <a:r>
              <a:t>Research recommendation: continue hybrid QML, especially kernel-based approaches that already show competitive accuracy.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2444"/>
          </a:solidFill>
          <a:ln>
            <a:solidFill>
              <a:srgbClr val="142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
            <a:ext cx="12191695" cy="54864"/>
          </a:xfrm>
          <a:prstGeom prst="rect">
            <a:avLst/>
          </a:prstGeom>
          <a:solidFill>
            <a:srgbClr val="B48C36"/>
          </a:solidFill>
          <a:ln>
            <a:solidFill>
              <a:srgbClr val="B48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5486400" cy="256032"/>
          </a:xfrm>
          <a:prstGeom prst="rect">
            <a:avLst/>
          </a:prstGeom>
          <a:noFill/>
        </p:spPr>
        <p:txBody>
          <a:bodyPr wrap="none">
            <a:spAutoFit/>
          </a:bodyPr>
          <a:lstStyle/>
          <a:p>
            <a:r>
              <a:rPr b="1" sz="1200">
                <a:solidFill>
                  <a:srgbClr val="FFFFFF"/>
                </a:solidFill>
                <a:latin typeface="Arial"/>
              </a:rPr>
              <a:t>FUTURE SCOPE</a:t>
            </a:r>
          </a:p>
        </p:txBody>
      </p:sp>
      <p:sp>
        <p:nvSpPr>
          <p:cNvPr id="5" name="TextBox 4"/>
          <p:cNvSpPr txBox="1"/>
          <p:nvPr/>
        </p:nvSpPr>
        <p:spPr>
          <a:xfrm>
            <a:off x="11064240" y="146304"/>
            <a:ext cx="640080" cy="256032"/>
          </a:xfrm>
          <a:prstGeom prst="rect">
            <a:avLst/>
          </a:prstGeom>
          <a:noFill/>
        </p:spPr>
        <p:txBody>
          <a:bodyPr wrap="none">
            <a:spAutoFit/>
          </a:bodyPr>
          <a:lstStyle/>
          <a:p>
            <a:pPr algn="r"/>
            <a:r>
              <a:rPr sz="1100">
                <a:solidFill>
                  <a:srgbClr val="FFFFFF"/>
                </a:solidFill>
                <a:latin typeface="Arial"/>
              </a:rPr>
              <a:t>15/15</a:t>
            </a:r>
          </a:p>
        </p:txBody>
      </p:sp>
      <p:sp>
        <p:nvSpPr>
          <p:cNvPr id="6" name="TextBox 5"/>
          <p:cNvSpPr txBox="1"/>
          <p:nvPr/>
        </p:nvSpPr>
        <p:spPr>
          <a:xfrm>
            <a:off x="594360" y="932688"/>
            <a:ext cx="10607040" cy="502920"/>
          </a:xfrm>
          <a:prstGeom prst="rect">
            <a:avLst/>
          </a:prstGeom>
          <a:noFill/>
        </p:spPr>
        <p:txBody>
          <a:bodyPr wrap="square">
            <a:spAutoFit/>
          </a:bodyPr>
          <a:lstStyle/>
          <a:p>
            <a:r>
              <a:rPr b="1" sz="2400">
                <a:solidFill>
                  <a:srgbClr val="0D182E"/>
                </a:solidFill>
                <a:latin typeface="Arial"/>
              </a:rPr>
              <a:t>Conclusion and future scope</a:t>
            </a:r>
          </a:p>
        </p:txBody>
      </p:sp>
      <p:sp>
        <p:nvSpPr>
          <p:cNvPr id="7" name="TextBox 6"/>
          <p:cNvSpPr txBox="1"/>
          <p:nvPr/>
        </p:nvSpPr>
        <p:spPr>
          <a:xfrm>
            <a:off x="621792" y="1444752"/>
            <a:ext cx="10789920" cy="347472"/>
          </a:xfrm>
          <a:prstGeom prst="rect">
            <a:avLst/>
          </a:prstGeom>
          <a:noFill/>
        </p:spPr>
        <p:txBody>
          <a:bodyPr wrap="square">
            <a:spAutoFit/>
          </a:bodyPr>
          <a:lstStyle/>
          <a:p>
            <a:r>
              <a:rPr sz="1100">
                <a:solidFill>
                  <a:srgbClr val="586478"/>
                </a:solidFill>
                <a:latin typeface="Arial"/>
              </a:rPr>
              <a:t>The project ends with a balanced conclusion: classical models lead deployment today, while hybrid QML remains the key research direction.</a:t>
            </a:r>
          </a:p>
        </p:txBody>
      </p:sp>
      <p:sp>
        <p:nvSpPr>
          <p:cNvPr id="8" name="Rounded Rectangle 7"/>
          <p:cNvSpPr/>
          <p:nvPr/>
        </p:nvSpPr>
        <p:spPr>
          <a:xfrm>
            <a:off x="640080" y="1828800"/>
            <a:ext cx="5486400" cy="4297680"/>
          </a:xfrm>
          <a:prstGeom prst="roundRect">
            <a:avLst/>
          </a:prstGeom>
          <a:solidFill>
            <a:srgbClr val="FFFFFF"/>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01952"/>
            <a:ext cx="5212080" cy="228600"/>
          </a:xfrm>
          <a:prstGeom prst="rect">
            <a:avLst/>
          </a:prstGeom>
          <a:noFill/>
        </p:spPr>
        <p:txBody>
          <a:bodyPr wrap="none">
            <a:spAutoFit/>
          </a:bodyPr>
          <a:lstStyle/>
          <a:p>
            <a:r>
              <a:rPr b="1" sz="1400">
                <a:solidFill>
                  <a:srgbClr val="2271B3"/>
                </a:solidFill>
                <a:latin typeface="Arial"/>
              </a:rPr>
              <a:t>Conclusion</a:t>
            </a:r>
          </a:p>
        </p:txBody>
      </p:sp>
      <p:sp>
        <p:nvSpPr>
          <p:cNvPr id="10" name="TextBox 9"/>
          <p:cNvSpPr txBox="1"/>
          <p:nvPr/>
        </p:nvSpPr>
        <p:spPr>
          <a:xfrm>
            <a:off x="749808" y="2240280"/>
            <a:ext cx="5266944" cy="3822192"/>
          </a:xfrm>
          <a:prstGeom prst="rect">
            <a:avLst/>
          </a:prstGeom>
          <a:noFill/>
        </p:spPr>
        <p:txBody>
          <a:bodyPr wrap="square" lIns="101600" rIns="50800">
            <a:spAutoFit/>
          </a:bodyPr>
          <a:lstStyle/>
          <a:p>
            <a:pPr>
              <a:spcAft>
                <a:spcPts val="500"/>
              </a:spcAft>
              <a:defRPr sz="1600">
                <a:solidFill>
                  <a:srgbClr val="202A38"/>
                </a:solidFill>
                <a:latin typeface="Arial"/>
              </a:defRPr>
            </a:pPr>
            <a:r>
              <a:t>The project successfully demonstrates a complete pipeline for detection, classification, and OCR.</a:t>
            </a:r>
          </a:p>
          <a:p>
            <a:pPr>
              <a:spcAft>
                <a:spcPts val="500"/>
              </a:spcAft>
              <a:defRPr sz="1600">
                <a:solidFill>
                  <a:srgbClr val="202A38"/>
                </a:solidFill>
                <a:latin typeface="Arial"/>
              </a:defRPr>
            </a:pPr>
            <a:r>
              <a:t>It also provides a fair and reproducible comparison between classical and hybrid quantum models.</a:t>
            </a:r>
          </a:p>
          <a:p>
            <a:pPr>
              <a:spcAft>
                <a:spcPts val="500"/>
              </a:spcAft>
              <a:defRPr sz="1600">
                <a:solidFill>
                  <a:srgbClr val="202A38"/>
                </a:solidFill>
                <a:latin typeface="Arial"/>
              </a:defRPr>
            </a:pPr>
            <a:r>
              <a:t>The strongest current production path is still the classical stack, led by YOLO and Classical SVM.</a:t>
            </a:r>
          </a:p>
          <a:p>
            <a:pPr>
              <a:spcAft>
                <a:spcPts val="500"/>
              </a:spcAft>
              <a:defRPr sz="1600">
                <a:solidFill>
                  <a:srgbClr val="202A38"/>
                </a:solidFill>
                <a:latin typeface="Arial"/>
              </a:defRPr>
            </a:pPr>
            <a:r>
              <a:t>The strongest research outcome is that a hybrid quantum model can match top ROI accuracy in this benchmark.</a:t>
            </a:r>
          </a:p>
        </p:txBody>
      </p:sp>
      <p:sp>
        <p:nvSpPr>
          <p:cNvPr id="11" name="Rounded Rectangle 10"/>
          <p:cNvSpPr/>
          <p:nvPr/>
        </p:nvSpPr>
        <p:spPr>
          <a:xfrm>
            <a:off x="6263640" y="1828800"/>
            <a:ext cx="5303520" cy="4297680"/>
          </a:xfrm>
          <a:prstGeom prst="roundRect">
            <a:avLst/>
          </a:prstGeom>
          <a:solidFill>
            <a:srgbClr val="F1ECFB"/>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901952"/>
            <a:ext cx="5029200" cy="228600"/>
          </a:xfrm>
          <a:prstGeom prst="rect">
            <a:avLst/>
          </a:prstGeom>
          <a:noFill/>
        </p:spPr>
        <p:txBody>
          <a:bodyPr wrap="none">
            <a:spAutoFit/>
          </a:bodyPr>
          <a:lstStyle/>
          <a:p>
            <a:r>
              <a:rPr b="1" sz="1400">
                <a:solidFill>
                  <a:srgbClr val="7A4DC4"/>
                </a:solidFill>
                <a:latin typeface="Arial"/>
              </a:rPr>
              <a:t>Future scope</a:t>
            </a:r>
          </a:p>
        </p:txBody>
      </p:sp>
      <p:sp>
        <p:nvSpPr>
          <p:cNvPr id="13" name="TextBox 12"/>
          <p:cNvSpPr txBox="1"/>
          <p:nvPr/>
        </p:nvSpPr>
        <p:spPr>
          <a:xfrm>
            <a:off x="6373368" y="2240280"/>
            <a:ext cx="5084064" cy="3822192"/>
          </a:xfrm>
          <a:prstGeom prst="rect">
            <a:avLst/>
          </a:prstGeom>
          <a:noFill/>
        </p:spPr>
        <p:txBody>
          <a:bodyPr wrap="square" lIns="101600" rIns="50800">
            <a:spAutoFit/>
          </a:bodyPr>
          <a:lstStyle/>
          <a:p>
            <a:pPr>
              <a:spcAft>
                <a:spcPts val="500"/>
              </a:spcAft>
              <a:defRPr sz="1600">
                <a:solidFill>
                  <a:srgbClr val="202A38"/>
                </a:solidFill>
                <a:latin typeface="Arial"/>
              </a:defRPr>
            </a:pPr>
            <a:r>
              <a:t>Add stronger end-to-end validation on full-scene test images.</a:t>
            </a:r>
          </a:p>
          <a:p>
            <a:pPr>
              <a:spcAft>
                <a:spcPts val="500"/>
              </a:spcAft>
              <a:defRPr sz="1600">
                <a:solidFill>
                  <a:srgbClr val="202A38"/>
                </a:solidFill>
                <a:latin typeface="Arial"/>
              </a:defRPr>
            </a:pPr>
            <a:r>
              <a:t>Improve OCR robustness on difficult object text regions and reflective labels.</a:t>
            </a:r>
          </a:p>
          <a:p>
            <a:pPr>
              <a:spcAft>
                <a:spcPts val="500"/>
              </a:spcAft>
              <a:defRPr sz="1600">
                <a:solidFill>
                  <a:srgbClr val="202A38"/>
                </a:solidFill>
                <a:latin typeface="Arial"/>
              </a:defRPr>
            </a:pPr>
            <a:r>
              <a:t>Explore richer quantum kernels, encodings, and feature-compression strategies.</a:t>
            </a:r>
          </a:p>
          <a:p>
            <a:pPr>
              <a:spcAft>
                <a:spcPts val="500"/>
              </a:spcAft>
              <a:defRPr sz="1600">
                <a:solidFill>
                  <a:srgbClr val="202A38"/>
                </a:solidFill>
                <a:latin typeface="Arial"/>
              </a:defRPr>
            </a:pPr>
            <a:r>
              <a:t>Continue QML experimentation only where measurable value is demonstrated over classical baselines.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